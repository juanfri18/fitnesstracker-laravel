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54864" cy="6858000"/>
          </a:xfrm>
          <a:prstGeom prst="rect">
            <a:avLst/>
          </a:prstGeom>
          <a:solidFill>
            <a:srgbClr val="2A5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10972800" cy="365760"/>
          </a:xfrm>
          <a:prstGeom prst="rect">
            <a:avLst/>
          </a:prstGeom>
          <a:noFill/>
        </p:spPr>
        <p:txBody>
          <a:bodyPr wrap="square">
            <a:spAutoFit/>
          </a:bodyPr>
          <a:lstStyle/>
          <a:p>
            <a:pPr algn="l"/>
            <a:r>
              <a:rPr sz="1000" b="0" i="0">
                <a:solidFill>
                  <a:srgbClr val="4FC3F7"/>
                </a:solidFill>
              </a:rPr>
              <a:t>PROYECTO FINAL · DESARROLLO DE APLICACIONES WEB</a:t>
            </a:r>
          </a:p>
        </p:txBody>
      </p:sp>
      <p:sp>
        <p:nvSpPr>
          <p:cNvPr id="4" name="TextBox 3"/>
          <p:cNvSpPr txBox="1"/>
          <p:nvPr/>
        </p:nvSpPr>
        <p:spPr>
          <a:xfrm>
            <a:off x="457200" y="1280160"/>
            <a:ext cx="9144000" cy="1828800"/>
          </a:xfrm>
          <a:prstGeom prst="rect">
            <a:avLst/>
          </a:prstGeom>
          <a:noFill/>
        </p:spPr>
        <p:txBody>
          <a:bodyPr wrap="square">
            <a:spAutoFit/>
          </a:bodyPr>
          <a:lstStyle/>
          <a:p>
            <a:pPr algn="l"/>
            <a:r>
              <a:rPr sz="7200" b="1" i="0">
                <a:solidFill>
                  <a:srgbClr val="FFFFFF"/>
                </a:solidFill>
              </a:rPr>
              <a:t>SinergyFit</a:t>
            </a:r>
          </a:p>
        </p:txBody>
      </p:sp>
      <p:sp>
        <p:nvSpPr>
          <p:cNvPr id="5" name="TextBox 4"/>
          <p:cNvSpPr txBox="1"/>
          <p:nvPr/>
        </p:nvSpPr>
        <p:spPr>
          <a:xfrm>
            <a:off x="457200" y="2926080"/>
            <a:ext cx="9144000" cy="457200"/>
          </a:xfrm>
          <a:prstGeom prst="rect">
            <a:avLst/>
          </a:prstGeom>
          <a:noFill/>
        </p:spPr>
        <p:txBody>
          <a:bodyPr wrap="square">
            <a:spAutoFit/>
          </a:bodyPr>
          <a:lstStyle/>
          <a:p>
            <a:pPr algn="l"/>
            <a:r>
              <a:rPr sz="2200" b="0" i="0">
                <a:solidFill>
                  <a:srgbClr val="CCD6E8"/>
                </a:solidFill>
              </a:rPr>
              <a:t>Aplicación web de seguimiento de fitness</a:t>
            </a:r>
          </a:p>
        </p:txBody>
      </p:sp>
      <p:sp>
        <p:nvSpPr>
          <p:cNvPr id="6" name="Rectangle 5"/>
          <p:cNvSpPr/>
          <p:nvPr/>
        </p:nvSpPr>
        <p:spPr>
          <a:xfrm>
            <a:off x="457200" y="3520440"/>
            <a:ext cx="2743200" cy="36576"/>
          </a:xfrm>
          <a:prstGeom prst="rect">
            <a:avLst/>
          </a:prstGeom>
          <a:solidFill>
            <a:srgbClr val="2A5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3749039"/>
            <a:ext cx="1325880" cy="347472"/>
          </a:xfrm>
          <a:prstGeom prst="rect">
            <a:avLst/>
          </a:prstGeom>
          <a:solidFill>
            <a:srgbClr val="1A2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3767328"/>
            <a:ext cx="1188720" cy="320040"/>
          </a:xfrm>
          <a:prstGeom prst="rect">
            <a:avLst/>
          </a:prstGeom>
          <a:noFill/>
        </p:spPr>
        <p:txBody>
          <a:bodyPr wrap="square">
            <a:spAutoFit/>
          </a:bodyPr>
          <a:lstStyle/>
          <a:p>
            <a:pPr algn="l"/>
            <a:r>
              <a:rPr sz="1100" b="1" i="0">
                <a:solidFill>
                  <a:srgbClr val="4FC3F7"/>
                </a:solidFill>
              </a:rPr>
              <a:t>Laravel 11</a:t>
            </a:r>
          </a:p>
        </p:txBody>
      </p:sp>
      <p:sp>
        <p:nvSpPr>
          <p:cNvPr id="9" name="Rectangle 8"/>
          <p:cNvSpPr/>
          <p:nvPr/>
        </p:nvSpPr>
        <p:spPr>
          <a:xfrm>
            <a:off x="1920240" y="3749039"/>
            <a:ext cx="1010412" cy="347472"/>
          </a:xfrm>
          <a:prstGeom prst="rect">
            <a:avLst/>
          </a:prstGeom>
          <a:solidFill>
            <a:srgbClr val="1A2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29968" y="3767328"/>
            <a:ext cx="873252" cy="320040"/>
          </a:xfrm>
          <a:prstGeom prst="rect">
            <a:avLst/>
          </a:prstGeom>
          <a:noFill/>
        </p:spPr>
        <p:txBody>
          <a:bodyPr wrap="square">
            <a:spAutoFit/>
          </a:bodyPr>
          <a:lstStyle/>
          <a:p>
            <a:pPr algn="l"/>
            <a:r>
              <a:rPr sz="1100" b="1" i="0">
                <a:solidFill>
                  <a:srgbClr val="4FC3F7"/>
                </a:solidFill>
              </a:rPr>
              <a:t>PHP 8.2</a:t>
            </a:r>
          </a:p>
        </p:txBody>
      </p:sp>
      <p:sp>
        <p:nvSpPr>
          <p:cNvPr id="11" name="Rectangle 10"/>
          <p:cNvSpPr/>
          <p:nvPr/>
        </p:nvSpPr>
        <p:spPr>
          <a:xfrm>
            <a:off x="3067812" y="3749039"/>
            <a:ext cx="1220724" cy="347472"/>
          </a:xfrm>
          <a:prstGeom prst="rect">
            <a:avLst/>
          </a:prstGeom>
          <a:solidFill>
            <a:srgbClr val="1A2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177540" y="3767328"/>
            <a:ext cx="1083564" cy="320040"/>
          </a:xfrm>
          <a:prstGeom prst="rect">
            <a:avLst/>
          </a:prstGeom>
          <a:noFill/>
        </p:spPr>
        <p:txBody>
          <a:bodyPr wrap="square">
            <a:spAutoFit/>
          </a:bodyPr>
          <a:lstStyle/>
          <a:p>
            <a:pPr algn="l"/>
            <a:r>
              <a:rPr sz="1100" b="1" i="0">
                <a:solidFill>
                  <a:srgbClr val="4FC3F7"/>
                </a:solidFill>
              </a:rPr>
              <a:t>MySQL 8.0</a:t>
            </a:r>
          </a:p>
        </p:txBody>
      </p:sp>
      <p:sp>
        <p:nvSpPr>
          <p:cNvPr id="13" name="Rectangle 12"/>
          <p:cNvSpPr/>
          <p:nvPr/>
        </p:nvSpPr>
        <p:spPr>
          <a:xfrm>
            <a:off x="4425696" y="3749039"/>
            <a:ext cx="1431036" cy="347472"/>
          </a:xfrm>
          <a:prstGeom prst="rect">
            <a:avLst/>
          </a:prstGeom>
          <a:solidFill>
            <a:srgbClr val="1A2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35424" y="3767328"/>
            <a:ext cx="1293876" cy="320040"/>
          </a:xfrm>
          <a:prstGeom prst="rect">
            <a:avLst/>
          </a:prstGeom>
          <a:noFill/>
        </p:spPr>
        <p:txBody>
          <a:bodyPr wrap="square">
            <a:spAutoFit/>
          </a:bodyPr>
          <a:lstStyle/>
          <a:p>
            <a:pPr algn="l"/>
            <a:r>
              <a:rPr sz="1100" b="1" i="0">
                <a:solidFill>
                  <a:srgbClr val="4FC3F7"/>
                </a:solidFill>
              </a:rPr>
              <a:t>Bootstrap 5</a:t>
            </a:r>
          </a:p>
        </p:txBody>
      </p:sp>
      <p:sp>
        <p:nvSpPr>
          <p:cNvPr id="15" name="Rectangle 14"/>
          <p:cNvSpPr/>
          <p:nvPr/>
        </p:nvSpPr>
        <p:spPr>
          <a:xfrm>
            <a:off x="5993892" y="3749039"/>
            <a:ext cx="905256" cy="347472"/>
          </a:xfrm>
          <a:prstGeom prst="rect">
            <a:avLst/>
          </a:prstGeom>
          <a:solidFill>
            <a:srgbClr val="1A2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03620" y="3767328"/>
            <a:ext cx="768096" cy="320040"/>
          </a:xfrm>
          <a:prstGeom prst="rect">
            <a:avLst/>
          </a:prstGeom>
          <a:noFill/>
        </p:spPr>
        <p:txBody>
          <a:bodyPr wrap="square">
            <a:spAutoFit/>
          </a:bodyPr>
          <a:lstStyle/>
          <a:p>
            <a:pPr algn="l"/>
            <a:r>
              <a:rPr sz="1100" b="1" i="0">
                <a:solidFill>
                  <a:srgbClr val="4FC3F7"/>
                </a:solidFill>
              </a:rPr>
              <a:t>Docker</a:t>
            </a:r>
          </a:p>
        </p:txBody>
      </p:sp>
      <p:sp>
        <p:nvSpPr>
          <p:cNvPr id="17" name="Rectangle 16"/>
          <p:cNvSpPr/>
          <p:nvPr/>
        </p:nvSpPr>
        <p:spPr>
          <a:xfrm>
            <a:off x="7036308" y="3749039"/>
            <a:ext cx="1010412" cy="347472"/>
          </a:xfrm>
          <a:prstGeom prst="rect">
            <a:avLst/>
          </a:prstGeom>
          <a:solidFill>
            <a:srgbClr val="1A2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46036" y="3767328"/>
            <a:ext cx="873252" cy="320040"/>
          </a:xfrm>
          <a:prstGeom prst="rect">
            <a:avLst/>
          </a:prstGeom>
          <a:noFill/>
        </p:spPr>
        <p:txBody>
          <a:bodyPr wrap="square">
            <a:spAutoFit/>
          </a:bodyPr>
          <a:lstStyle/>
          <a:p>
            <a:pPr algn="l"/>
            <a:r>
              <a:rPr sz="1100" b="1" i="0">
                <a:solidFill>
                  <a:srgbClr val="4FC3F7"/>
                </a:solidFill>
              </a:rPr>
              <a:t>PHPUnit</a:t>
            </a:r>
          </a:p>
        </p:txBody>
      </p:sp>
      <p:sp>
        <p:nvSpPr>
          <p:cNvPr id="19" name="TextBox 18"/>
          <p:cNvSpPr txBox="1"/>
          <p:nvPr/>
        </p:nvSpPr>
        <p:spPr>
          <a:xfrm>
            <a:off x="457200" y="6217920"/>
            <a:ext cx="4572000" cy="365760"/>
          </a:xfrm>
          <a:prstGeom prst="rect">
            <a:avLst/>
          </a:prstGeom>
          <a:noFill/>
        </p:spPr>
        <p:txBody>
          <a:bodyPr wrap="square">
            <a:spAutoFit/>
          </a:bodyPr>
          <a:lstStyle/>
          <a:p>
            <a:pPr algn="l"/>
            <a:r>
              <a:rPr sz="1300" b="0" i="0">
                <a:solidFill>
                  <a:srgbClr val="8090AA"/>
                </a:solidFill>
              </a:rPr>
              <a:t>Juanfri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2A5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7315200" cy="274320"/>
          </a:xfrm>
          <a:prstGeom prst="rect">
            <a:avLst/>
          </a:prstGeom>
          <a:noFill/>
        </p:spPr>
        <p:txBody>
          <a:bodyPr wrap="square">
            <a:spAutoFit/>
          </a:bodyPr>
          <a:lstStyle/>
          <a:p>
            <a:pPr algn="l"/>
            <a:r>
              <a:rPr sz="1000" b="0" i="0">
                <a:solidFill>
                  <a:srgbClr val="4FC3F7"/>
                </a:solidFill>
              </a:rPr>
              <a:t>01 — INTRODUCCIÓN</a:t>
            </a:r>
          </a:p>
        </p:txBody>
      </p:sp>
      <p:sp>
        <p:nvSpPr>
          <p:cNvPr id="4" name="TextBox 3"/>
          <p:cNvSpPr txBox="1"/>
          <p:nvPr/>
        </p:nvSpPr>
        <p:spPr>
          <a:xfrm>
            <a:off x="457200" y="594360"/>
            <a:ext cx="10972800" cy="731520"/>
          </a:xfrm>
          <a:prstGeom prst="rect">
            <a:avLst/>
          </a:prstGeom>
          <a:noFill/>
        </p:spPr>
        <p:txBody>
          <a:bodyPr wrap="square">
            <a:spAutoFit/>
          </a:bodyPr>
          <a:lstStyle/>
          <a:p>
            <a:pPr algn="l"/>
            <a:r>
              <a:rPr sz="3000" b="1" i="0">
                <a:solidFill>
                  <a:srgbClr val="FFFFFF"/>
                </a:solidFill>
              </a:rPr>
              <a:t>¿Qué es SinergyFit y por qué existe?</a:t>
            </a:r>
          </a:p>
        </p:txBody>
      </p:sp>
      <p:sp>
        <p:nvSpPr>
          <p:cNvPr id="5" name="Rectangle 4"/>
          <p:cNvSpPr/>
          <p:nvPr/>
        </p:nvSpPr>
        <p:spPr>
          <a:xfrm>
            <a:off x="457200" y="1325880"/>
            <a:ext cx="2286000" cy="36576"/>
          </a:xfrm>
          <a:prstGeom prst="rect">
            <a:avLst/>
          </a:prstGeom>
          <a:solidFill>
            <a:srgbClr val="2A5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508760"/>
            <a:ext cx="5394960" cy="2011680"/>
          </a:xfrm>
          <a:prstGeom prst="rect">
            <a:avLst/>
          </a:prstGeom>
          <a:solidFill>
            <a:srgbClr val="101E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600200"/>
            <a:ext cx="5120640" cy="274320"/>
          </a:xfrm>
          <a:prstGeom prst="rect">
            <a:avLst/>
          </a:prstGeom>
          <a:noFill/>
        </p:spPr>
        <p:txBody>
          <a:bodyPr wrap="square">
            <a:spAutoFit/>
          </a:bodyPr>
          <a:lstStyle/>
          <a:p>
            <a:pPr algn="l"/>
            <a:r>
              <a:rPr sz="900" b="1" i="0">
                <a:solidFill>
                  <a:srgbClr val="4FC3F7"/>
                </a:solidFill>
              </a:rPr>
              <a:t>EL PROBLEMA</a:t>
            </a:r>
          </a:p>
        </p:txBody>
      </p:sp>
      <p:sp>
        <p:nvSpPr>
          <p:cNvPr id="8" name="TextBox 7"/>
          <p:cNvSpPr txBox="1"/>
          <p:nvPr/>
        </p:nvSpPr>
        <p:spPr>
          <a:xfrm>
            <a:off x="594360" y="1874519"/>
            <a:ext cx="5120640" cy="365760"/>
          </a:xfrm>
          <a:prstGeom prst="rect">
            <a:avLst/>
          </a:prstGeom>
          <a:noFill/>
        </p:spPr>
        <p:txBody>
          <a:bodyPr wrap="square">
            <a:spAutoFit/>
          </a:bodyPr>
          <a:lstStyle/>
          <a:p>
            <a:pPr algn="l"/>
            <a:r>
              <a:rPr sz="1400" b="1" i="0">
                <a:solidFill>
                  <a:srgbClr val="FFFFFF"/>
                </a:solidFill>
              </a:rPr>
              <a:t>Las apps existentes son demasiado limitadas</a:t>
            </a:r>
          </a:p>
        </p:txBody>
      </p:sp>
      <p:sp>
        <p:nvSpPr>
          <p:cNvPr id="9" name="TextBox 8"/>
          <p:cNvSpPr txBox="1"/>
          <p:nvPr/>
        </p:nvSpPr>
        <p:spPr>
          <a:xfrm>
            <a:off x="594360" y="2240280"/>
            <a:ext cx="5120640" cy="1005840"/>
          </a:xfrm>
          <a:prstGeom prst="rect">
            <a:avLst/>
          </a:prstGeom>
          <a:noFill/>
        </p:spPr>
        <p:txBody>
          <a:bodyPr wrap="square">
            <a:spAutoFit/>
          </a:bodyPr>
          <a:lstStyle/>
          <a:p>
            <a:pPr algn="l"/>
            <a:r>
              <a:rPr sz="1200" b="0" i="0">
                <a:solidFill>
                  <a:srgbClr val="CCD6E8"/>
                </a:solidFill>
              </a:rPr>
              <a:t>Apps como Strava son o muy complejas o muy simples. Los entrenamientos
de fuerza se reducen a un cronómetro y calorías estimadas.
Sin registro de ejercicios, series ni pesos levantados.</a:t>
            </a:r>
          </a:p>
        </p:txBody>
      </p:sp>
      <p:sp>
        <p:nvSpPr>
          <p:cNvPr id="10" name="Rectangle 9"/>
          <p:cNvSpPr/>
          <p:nvPr/>
        </p:nvSpPr>
        <p:spPr>
          <a:xfrm>
            <a:off x="457200" y="3611880"/>
            <a:ext cx="5394960" cy="2011680"/>
          </a:xfrm>
          <a:prstGeom prst="rect">
            <a:avLst/>
          </a:prstGeom>
          <a:solidFill>
            <a:srgbClr val="101E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3703320"/>
            <a:ext cx="5120640" cy="274320"/>
          </a:xfrm>
          <a:prstGeom prst="rect">
            <a:avLst/>
          </a:prstGeom>
          <a:noFill/>
        </p:spPr>
        <p:txBody>
          <a:bodyPr wrap="square">
            <a:spAutoFit/>
          </a:bodyPr>
          <a:lstStyle/>
          <a:p>
            <a:pPr algn="l"/>
            <a:r>
              <a:rPr sz="900" b="1" i="0">
                <a:solidFill>
                  <a:srgbClr val="4FC3F7"/>
                </a:solidFill>
              </a:rPr>
              <a:t>LA MOTIVACIÓN</a:t>
            </a:r>
          </a:p>
        </p:txBody>
      </p:sp>
      <p:sp>
        <p:nvSpPr>
          <p:cNvPr id="12" name="TextBox 11"/>
          <p:cNvSpPr txBox="1"/>
          <p:nvPr/>
        </p:nvSpPr>
        <p:spPr>
          <a:xfrm>
            <a:off x="594360" y="3977639"/>
            <a:ext cx="5120640" cy="365760"/>
          </a:xfrm>
          <a:prstGeom prst="rect">
            <a:avLst/>
          </a:prstGeom>
          <a:noFill/>
        </p:spPr>
        <p:txBody>
          <a:bodyPr wrap="square">
            <a:spAutoFit/>
          </a:bodyPr>
          <a:lstStyle/>
          <a:p>
            <a:pPr algn="l"/>
            <a:r>
              <a:rPr sz="1400" b="1" i="0">
                <a:solidFill>
                  <a:srgbClr val="FFFFFF"/>
                </a:solidFill>
              </a:rPr>
              <a:t>Convertir una rutina en un hábito</a:t>
            </a:r>
          </a:p>
        </p:txBody>
      </p:sp>
      <p:sp>
        <p:nvSpPr>
          <p:cNvPr id="13" name="TextBox 12"/>
          <p:cNvSpPr txBox="1"/>
          <p:nvPr/>
        </p:nvSpPr>
        <p:spPr>
          <a:xfrm>
            <a:off x="594360" y="4343400"/>
            <a:ext cx="5120640" cy="1005840"/>
          </a:xfrm>
          <a:prstGeom prst="rect">
            <a:avLst/>
          </a:prstGeom>
          <a:noFill/>
        </p:spPr>
        <p:txBody>
          <a:bodyPr wrap="square">
            <a:spAutoFit/>
          </a:bodyPr>
          <a:lstStyle/>
          <a:p>
            <a:pPr algn="l"/>
            <a:r>
              <a:rPr sz="1200" b="0" i="0">
                <a:solidFill>
                  <a:srgbClr val="CCD6E8"/>
                </a:solidFill>
              </a:rPr>
              <a:t>Quedarse estancado en el gimnasio es común. Con un registro real
puedes comparar cómo empezaste hace meses con cómo estás ahora.
Eso es lo que convierte el esfuerzo en progreso visible.</a:t>
            </a:r>
          </a:p>
        </p:txBody>
      </p:sp>
      <p:sp>
        <p:nvSpPr>
          <p:cNvPr id="14" name="Rectangle 13"/>
          <p:cNvSpPr/>
          <p:nvPr/>
        </p:nvSpPr>
        <p:spPr>
          <a:xfrm>
            <a:off x="6126480" y="1508760"/>
            <a:ext cx="5577840" cy="4114800"/>
          </a:xfrm>
          <a:prstGeom prst="rect">
            <a:avLst/>
          </a:prstGeom>
          <a:solidFill>
            <a:srgbClr val="1225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3640" y="1600200"/>
            <a:ext cx="5303520" cy="274320"/>
          </a:xfrm>
          <a:prstGeom prst="rect">
            <a:avLst/>
          </a:prstGeom>
          <a:noFill/>
        </p:spPr>
        <p:txBody>
          <a:bodyPr wrap="square">
            <a:spAutoFit/>
          </a:bodyPr>
          <a:lstStyle/>
          <a:p>
            <a:pPr algn="l"/>
            <a:r>
              <a:rPr sz="900" b="1" i="0">
                <a:solidFill>
                  <a:srgbClr val="4FC3F7"/>
                </a:solidFill>
              </a:rPr>
              <a:t>¿QUÉ PERMITE SINERGYFIT?</a:t>
            </a:r>
          </a:p>
        </p:txBody>
      </p:sp>
      <p:sp>
        <p:nvSpPr>
          <p:cNvPr id="16" name="TextBox 15"/>
          <p:cNvSpPr txBox="1"/>
          <p:nvPr/>
        </p:nvSpPr>
        <p:spPr>
          <a:xfrm>
            <a:off x="6263640" y="1920240"/>
            <a:ext cx="5303520" cy="411480"/>
          </a:xfrm>
          <a:prstGeom prst="rect">
            <a:avLst/>
          </a:prstGeom>
          <a:noFill/>
        </p:spPr>
        <p:txBody>
          <a:bodyPr wrap="square">
            <a:spAutoFit/>
          </a:bodyPr>
          <a:lstStyle/>
          <a:p>
            <a:pPr algn="l"/>
            <a:r>
              <a:rPr sz="1200" b="0" i="0">
                <a:solidFill>
                  <a:srgbClr val="CCD6E8"/>
                </a:solidFill>
              </a:rPr>
              <a:t>→  Registrar cada ejercicio de fuerza: grupo muscular, series, repeticiones y peso</a:t>
            </a:r>
          </a:p>
        </p:txBody>
      </p:sp>
      <p:sp>
        <p:nvSpPr>
          <p:cNvPr id="17" name="TextBox 16"/>
          <p:cNvSpPr txBox="1"/>
          <p:nvPr/>
        </p:nvSpPr>
        <p:spPr>
          <a:xfrm>
            <a:off x="6263640" y="2395728"/>
            <a:ext cx="5303520" cy="411480"/>
          </a:xfrm>
          <a:prstGeom prst="rect">
            <a:avLst/>
          </a:prstGeom>
          <a:noFill/>
        </p:spPr>
        <p:txBody>
          <a:bodyPr wrap="square">
            <a:spAutoFit/>
          </a:bodyPr>
          <a:lstStyle/>
          <a:p>
            <a:pPr algn="l"/>
            <a:r>
              <a:rPr sz="1200" b="0" i="0">
                <a:solidFill>
                  <a:srgbClr val="CCD6E8"/>
                </a:solidFill>
              </a:rPr>
              <a:t>→  Registrar sesiones de carrera y caminata con duración y notas</a:t>
            </a:r>
          </a:p>
        </p:txBody>
      </p:sp>
      <p:sp>
        <p:nvSpPr>
          <p:cNvPr id="18" name="TextBox 17"/>
          <p:cNvSpPr txBox="1"/>
          <p:nvPr/>
        </p:nvSpPr>
        <p:spPr>
          <a:xfrm>
            <a:off x="6263640" y="2871216"/>
            <a:ext cx="5303520" cy="411480"/>
          </a:xfrm>
          <a:prstGeom prst="rect">
            <a:avLst/>
          </a:prstGeom>
          <a:noFill/>
        </p:spPr>
        <p:txBody>
          <a:bodyPr wrap="square">
            <a:spAutoFit/>
          </a:bodyPr>
          <a:lstStyle/>
          <a:p>
            <a:pPr algn="l"/>
            <a:r>
              <a:rPr sz="1200" b="0" i="0">
                <a:solidFill>
                  <a:srgbClr val="CCD6E8"/>
                </a:solidFill>
              </a:rPr>
              <a:t>→  Ver la evolución del volumen levantado a lo largo del tiempo</a:t>
            </a:r>
          </a:p>
        </p:txBody>
      </p:sp>
      <p:sp>
        <p:nvSpPr>
          <p:cNvPr id="19" name="TextBox 18"/>
          <p:cNvSpPr txBox="1"/>
          <p:nvPr/>
        </p:nvSpPr>
        <p:spPr>
          <a:xfrm>
            <a:off x="6263640" y="3346704"/>
            <a:ext cx="5303520" cy="411480"/>
          </a:xfrm>
          <a:prstGeom prst="rect">
            <a:avLst/>
          </a:prstGeom>
          <a:noFill/>
        </p:spPr>
        <p:txBody>
          <a:bodyPr wrap="square">
            <a:spAutoFit/>
          </a:bodyPr>
          <a:lstStyle/>
          <a:p>
            <a:pPr algn="l"/>
            <a:r>
              <a:rPr sz="1200" b="0" i="0">
                <a:solidFill>
                  <a:srgbClr val="CCD6E8"/>
                </a:solidFill>
              </a:rPr>
              <a:t>→  Establecer objetivos y seguir su progreso automáticamente</a:t>
            </a:r>
          </a:p>
        </p:txBody>
      </p:sp>
      <p:sp>
        <p:nvSpPr>
          <p:cNvPr id="20" name="TextBox 19"/>
          <p:cNvSpPr txBox="1"/>
          <p:nvPr/>
        </p:nvSpPr>
        <p:spPr>
          <a:xfrm>
            <a:off x="6263640" y="3822191"/>
            <a:ext cx="5303520" cy="411480"/>
          </a:xfrm>
          <a:prstGeom prst="rect">
            <a:avLst/>
          </a:prstGeom>
          <a:noFill/>
        </p:spPr>
        <p:txBody>
          <a:bodyPr wrap="square">
            <a:spAutoFit/>
          </a:bodyPr>
          <a:lstStyle/>
          <a:p>
            <a:pPr algn="l"/>
            <a:r>
              <a:rPr sz="1200" b="0" i="0">
                <a:solidFill>
                  <a:srgbClr val="CCD6E8"/>
                </a:solidFill>
              </a:rPr>
              <a:t>→  Rachas de días consecutivos y 5 logros desbloqueables</a:t>
            </a:r>
          </a:p>
        </p:txBody>
      </p:sp>
      <p:sp>
        <p:nvSpPr>
          <p:cNvPr id="21" name="TextBox 20"/>
          <p:cNvSpPr txBox="1"/>
          <p:nvPr/>
        </p:nvSpPr>
        <p:spPr>
          <a:xfrm>
            <a:off x="6263640" y="4297679"/>
            <a:ext cx="5303520" cy="411480"/>
          </a:xfrm>
          <a:prstGeom prst="rect">
            <a:avLst/>
          </a:prstGeom>
          <a:noFill/>
        </p:spPr>
        <p:txBody>
          <a:bodyPr wrap="square">
            <a:spAutoFit/>
          </a:bodyPr>
          <a:lstStyle/>
          <a:p>
            <a:pPr algn="l"/>
            <a:r>
              <a:rPr sz="1200" b="0" i="0">
                <a:solidFill>
                  <a:srgbClr val="CCD6E8"/>
                </a:solidFill>
              </a:rPr>
              <a:t>→  Estadísticas comparativas con el periodo anterior</a:t>
            </a:r>
          </a:p>
        </p:txBody>
      </p:sp>
      <p:sp>
        <p:nvSpPr>
          <p:cNvPr id="22" name="Rectangle 21"/>
          <p:cNvSpPr/>
          <p:nvPr/>
        </p:nvSpPr>
        <p:spPr>
          <a:xfrm>
            <a:off x="6126480" y="5120640"/>
            <a:ext cx="5577840" cy="822960"/>
          </a:xfrm>
          <a:prstGeom prst="rect">
            <a:avLst/>
          </a:prstGeom>
          <a:solidFill>
            <a:srgbClr val="1A3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63640" y="5257800"/>
            <a:ext cx="5303520" cy="457200"/>
          </a:xfrm>
          <a:prstGeom prst="rect">
            <a:avLst/>
          </a:prstGeom>
          <a:noFill/>
        </p:spPr>
        <p:txBody>
          <a:bodyPr wrap="square">
            <a:spAutoFit/>
          </a:bodyPr>
          <a:lstStyle/>
          <a:p>
            <a:pPr algn="ctr"/>
            <a:r>
              <a:rPr sz="1400" b="1" i="0">
                <a:solidFill>
                  <a:srgbClr val="FFFFFF"/>
                </a:solidFill>
              </a:rPr>
              <a:t>🏋️  Fuerza       🏃  Carrera       🚶  Caminata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54864" cy="6858000"/>
          </a:xfrm>
          <a:prstGeom prst="rect">
            <a:avLst/>
          </a:prstGeom>
          <a:solidFill>
            <a:srgbClr val="2A5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7315200" cy="274320"/>
          </a:xfrm>
          <a:prstGeom prst="rect">
            <a:avLst/>
          </a:prstGeom>
          <a:noFill/>
        </p:spPr>
        <p:txBody>
          <a:bodyPr wrap="square">
            <a:spAutoFit/>
          </a:bodyPr>
          <a:lstStyle/>
          <a:p>
            <a:pPr algn="l"/>
            <a:r>
              <a:rPr sz="1000" b="0" i="0">
                <a:solidFill>
                  <a:srgbClr val="4FC3F7"/>
                </a:solidFill>
              </a:rPr>
              <a:t>02 — EL NOMBRE</a:t>
            </a:r>
          </a:p>
        </p:txBody>
      </p:sp>
      <p:sp>
        <p:nvSpPr>
          <p:cNvPr id="4" name="TextBox 3"/>
          <p:cNvSpPr txBox="1"/>
          <p:nvPr/>
        </p:nvSpPr>
        <p:spPr>
          <a:xfrm>
            <a:off x="457200" y="594360"/>
            <a:ext cx="9144000" cy="640080"/>
          </a:xfrm>
          <a:prstGeom prst="rect">
            <a:avLst/>
          </a:prstGeom>
          <a:noFill/>
        </p:spPr>
        <p:txBody>
          <a:bodyPr wrap="square">
            <a:spAutoFit/>
          </a:bodyPr>
          <a:lstStyle/>
          <a:p>
            <a:pPr algn="l"/>
            <a:r>
              <a:rPr sz="3000" b="1" i="0">
                <a:solidFill>
                  <a:srgbClr val="FFFFFF"/>
                </a:solidFill>
              </a:rPr>
              <a:t>¿Por qué SinergyFit?</a:t>
            </a:r>
          </a:p>
        </p:txBody>
      </p:sp>
      <p:sp>
        <p:nvSpPr>
          <p:cNvPr id="5" name="Rectangle 4"/>
          <p:cNvSpPr/>
          <p:nvPr/>
        </p:nvSpPr>
        <p:spPr>
          <a:xfrm>
            <a:off x="457200" y="1234440"/>
            <a:ext cx="2286000" cy="36576"/>
          </a:xfrm>
          <a:prstGeom prst="rect">
            <a:avLst/>
          </a:prstGeom>
          <a:solidFill>
            <a:srgbClr val="2A5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417320"/>
            <a:ext cx="5394960" cy="1737360"/>
          </a:xfrm>
          <a:prstGeom prst="rect">
            <a:avLst/>
          </a:prstGeom>
          <a:solidFill>
            <a:srgbClr val="0E1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508760"/>
            <a:ext cx="5120640" cy="274320"/>
          </a:xfrm>
          <a:prstGeom prst="rect">
            <a:avLst/>
          </a:prstGeom>
          <a:noFill/>
        </p:spPr>
        <p:txBody>
          <a:bodyPr wrap="square">
            <a:spAutoFit/>
          </a:bodyPr>
          <a:lstStyle/>
          <a:p>
            <a:pPr algn="l"/>
            <a:r>
              <a:rPr sz="900" b="0" i="0">
                <a:solidFill>
                  <a:srgbClr val="8090AA"/>
                </a:solidFill>
              </a:rPr>
              <a:t>EL NOMBRE ORIGINAL</a:t>
            </a:r>
          </a:p>
        </p:txBody>
      </p:sp>
      <p:sp>
        <p:nvSpPr>
          <p:cNvPr id="8" name="TextBox 7"/>
          <p:cNvSpPr txBox="1"/>
          <p:nvPr/>
        </p:nvSpPr>
        <p:spPr>
          <a:xfrm>
            <a:off x="594360" y="1783080"/>
            <a:ext cx="5120640" cy="502920"/>
          </a:xfrm>
          <a:prstGeom prst="rect">
            <a:avLst/>
          </a:prstGeom>
          <a:noFill/>
        </p:spPr>
        <p:txBody>
          <a:bodyPr wrap="square">
            <a:spAutoFit/>
          </a:bodyPr>
          <a:lstStyle/>
          <a:p>
            <a:pPr algn="l"/>
            <a:r>
              <a:rPr sz="2600" b="1" i="0">
                <a:solidFill>
                  <a:srgbClr val="556580"/>
                </a:solidFill>
              </a:rPr>
              <a:t>FitnessTracker</a:t>
            </a:r>
          </a:p>
        </p:txBody>
      </p:sp>
      <p:sp>
        <p:nvSpPr>
          <p:cNvPr id="9" name="TextBox 8"/>
          <p:cNvSpPr txBox="1"/>
          <p:nvPr/>
        </p:nvSpPr>
        <p:spPr>
          <a:xfrm>
            <a:off x="594360" y="2286000"/>
            <a:ext cx="5120640" cy="548640"/>
          </a:xfrm>
          <a:prstGeom prst="rect">
            <a:avLst/>
          </a:prstGeom>
          <a:noFill/>
        </p:spPr>
        <p:txBody>
          <a:bodyPr wrap="square">
            <a:spAutoFit/>
          </a:bodyPr>
          <a:lstStyle/>
          <a:p>
            <a:pPr algn="l"/>
            <a:r>
              <a:rPr sz="1200" b="0" i="1">
                <a:solidFill>
                  <a:srgbClr val="8090AA"/>
                </a:solidFill>
              </a:rPr>
              <a:t>"Seguidor de actividad". Correcto pero genérico, sin identidad ni alma.</a:t>
            </a:r>
          </a:p>
        </p:txBody>
      </p:sp>
      <p:sp>
        <p:nvSpPr>
          <p:cNvPr id="10" name="Rectangle 9"/>
          <p:cNvSpPr/>
          <p:nvPr/>
        </p:nvSpPr>
        <p:spPr>
          <a:xfrm>
            <a:off x="457200" y="3291840"/>
            <a:ext cx="5394960" cy="1828800"/>
          </a:xfrm>
          <a:prstGeom prst="rect">
            <a:avLst/>
          </a:prstGeom>
          <a:solidFill>
            <a:srgbClr val="1225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3383280"/>
            <a:ext cx="5120640" cy="274320"/>
          </a:xfrm>
          <a:prstGeom prst="rect">
            <a:avLst/>
          </a:prstGeom>
          <a:noFill/>
        </p:spPr>
        <p:txBody>
          <a:bodyPr wrap="square">
            <a:spAutoFit/>
          </a:bodyPr>
          <a:lstStyle/>
          <a:p>
            <a:pPr algn="l"/>
            <a:r>
              <a:rPr sz="900" b="1" i="0">
                <a:solidFill>
                  <a:srgbClr val="4FC3F7"/>
                </a:solidFill>
              </a:rPr>
              <a:t>EL NOMBRE DEFINITIVO</a:t>
            </a:r>
          </a:p>
        </p:txBody>
      </p:sp>
      <p:sp>
        <p:nvSpPr>
          <p:cNvPr id="12" name="TextBox 11"/>
          <p:cNvSpPr txBox="1"/>
          <p:nvPr/>
        </p:nvSpPr>
        <p:spPr>
          <a:xfrm>
            <a:off x="594360" y="3657600"/>
            <a:ext cx="5120640" cy="640080"/>
          </a:xfrm>
          <a:prstGeom prst="rect">
            <a:avLst/>
          </a:prstGeom>
          <a:noFill/>
        </p:spPr>
        <p:txBody>
          <a:bodyPr wrap="square">
            <a:spAutoFit/>
          </a:bodyPr>
          <a:lstStyle/>
          <a:p>
            <a:pPr algn="l"/>
            <a:r>
              <a:rPr sz="3200" b="1" i="0">
                <a:solidFill>
                  <a:srgbClr val="FFFFFF"/>
                </a:solidFill>
              </a:rPr>
              <a:t>SinergyFit</a:t>
            </a:r>
          </a:p>
        </p:txBody>
      </p:sp>
      <p:sp>
        <p:nvSpPr>
          <p:cNvPr id="13" name="TextBox 12"/>
          <p:cNvSpPr txBox="1"/>
          <p:nvPr/>
        </p:nvSpPr>
        <p:spPr>
          <a:xfrm>
            <a:off x="594360" y="4251960"/>
            <a:ext cx="5120640" cy="365760"/>
          </a:xfrm>
          <a:prstGeom prst="rect">
            <a:avLst/>
          </a:prstGeom>
          <a:noFill/>
        </p:spPr>
        <p:txBody>
          <a:bodyPr wrap="square">
            <a:spAutoFit/>
          </a:bodyPr>
          <a:lstStyle/>
          <a:p>
            <a:pPr algn="l"/>
            <a:r>
              <a:rPr sz="1400" b="0" i="0">
                <a:solidFill>
                  <a:srgbClr val="4FC3F7"/>
                </a:solidFill>
              </a:rPr>
              <a:t>Sinergia  +  Fitness</a:t>
            </a:r>
          </a:p>
        </p:txBody>
      </p:sp>
      <p:sp>
        <p:nvSpPr>
          <p:cNvPr id="14" name="Rectangle 13"/>
          <p:cNvSpPr/>
          <p:nvPr/>
        </p:nvSpPr>
        <p:spPr>
          <a:xfrm>
            <a:off x="6126480" y="1417320"/>
            <a:ext cx="5577840" cy="2011680"/>
          </a:xfrm>
          <a:prstGeom prst="rect">
            <a:avLst/>
          </a:prstGeom>
          <a:solidFill>
            <a:srgbClr val="101E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3640" y="1508760"/>
            <a:ext cx="5303520" cy="274320"/>
          </a:xfrm>
          <a:prstGeom prst="rect">
            <a:avLst/>
          </a:prstGeom>
          <a:noFill/>
        </p:spPr>
        <p:txBody>
          <a:bodyPr wrap="square">
            <a:spAutoFit/>
          </a:bodyPr>
          <a:lstStyle/>
          <a:p>
            <a:pPr algn="l"/>
            <a:r>
              <a:rPr sz="900" b="1" i="0">
                <a:solidFill>
                  <a:srgbClr val="4FC3F7"/>
                </a:solidFill>
              </a:rPr>
              <a:t>¿QUÉ ES LA SINERGIA?</a:t>
            </a:r>
          </a:p>
        </p:txBody>
      </p:sp>
      <p:sp>
        <p:nvSpPr>
          <p:cNvPr id="16" name="TextBox 15"/>
          <p:cNvSpPr txBox="1"/>
          <p:nvPr/>
        </p:nvSpPr>
        <p:spPr>
          <a:xfrm>
            <a:off x="6263640" y="1828800"/>
            <a:ext cx="5303520" cy="1371600"/>
          </a:xfrm>
          <a:prstGeom prst="rect">
            <a:avLst/>
          </a:prstGeom>
          <a:noFill/>
        </p:spPr>
        <p:txBody>
          <a:bodyPr wrap="square">
            <a:spAutoFit/>
          </a:bodyPr>
          <a:lstStyle/>
          <a:p>
            <a:pPr algn="l"/>
            <a:r>
              <a:rPr sz="1300" b="0" i="1">
                <a:solidFill>
                  <a:srgbClr val="CCD6E8"/>
                </a:solidFill>
              </a:rPr>
              <a:t>"La cooperación entre dos o más elementos produce
un resultado superior a la suma de sus partes."
El todo es mayor que la suma de sus partes.</a:t>
            </a:r>
          </a:p>
        </p:txBody>
      </p:sp>
      <p:sp>
        <p:nvSpPr>
          <p:cNvPr id="17" name="Rectangle 16"/>
          <p:cNvSpPr/>
          <p:nvPr/>
        </p:nvSpPr>
        <p:spPr>
          <a:xfrm>
            <a:off x="6126480" y="3566160"/>
            <a:ext cx="5577840" cy="777240"/>
          </a:xfrm>
          <a:prstGeom prst="rect">
            <a:avLst/>
          </a:prstGeom>
          <a:solidFill>
            <a:srgbClr val="1A3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63640" y="3703320"/>
            <a:ext cx="5303520" cy="502920"/>
          </a:xfrm>
          <a:prstGeom prst="rect">
            <a:avLst/>
          </a:prstGeom>
          <a:noFill/>
        </p:spPr>
        <p:txBody>
          <a:bodyPr wrap="square">
            <a:spAutoFit/>
          </a:bodyPr>
          <a:lstStyle/>
          <a:p>
            <a:pPr algn="ctr"/>
            <a:r>
              <a:rPr sz="1500" b="1" i="0">
                <a:solidFill>
                  <a:srgbClr val="FFFFFF"/>
                </a:solidFill>
              </a:rPr>
              <a:t>💪 Fuerza  +  🏃 Cardio  =  Resultado superior</a:t>
            </a:r>
          </a:p>
        </p:txBody>
      </p:sp>
      <p:sp>
        <p:nvSpPr>
          <p:cNvPr id="19" name="Rectangle 18"/>
          <p:cNvSpPr/>
          <p:nvPr/>
        </p:nvSpPr>
        <p:spPr>
          <a:xfrm>
            <a:off x="6126480" y="4480560"/>
            <a:ext cx="5577840" cy="1554480"/>
          </a:xfrm>
          <a:prstGeom prst="rect">
            <a:avLst/>
          </a:prstGeom>
          <a:solidFill>
            <a:srgbClr val="0E1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3640" y="4617720"/>
            <a:ext cx="5303520" cy="1280160"/>
          </a:xfrm>
          <a:prstGeom prst="rect">
            <a:avLst/>
          </a:prstGeom>
          <a:noFill/>
        </p:spPr>
        <p:txBody>
          <a:bodyPr wrap="square">
            <a:spAutoFit/>
          </a:bodyPr>
          <a:lstStyle/>
          <a:p>
            <a:pPr algn="l"/>
            <a:r>
              <a:rPr sz="1200" b="0" i="0">
                <a:solidFill>
                  <a:srgbClr val="CCD6E8"/>
                </a:solidFill>
              </a:rPr>
              <a:t>Solo fuerza o solo cardio es incompleto. La combinación de ambos
—la sinergia aplicada al deporte— es exactamente el núcleo de
SinergyFit: una app que une todos los tipos de entrenamiento
en un solo lugar para maximizar los resultados.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2A5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7315200" cy="274320"/>
          </a:xfrm>
          <a:prstGeom prst="rect">
            <a:avLst/>
          </a:prstGeom>
          <a:noFill/>
        </p:spPr>
        <p:txBody>
          <a:bodyPr wrap="square">
            <a:spAutoFit/>
          </a:bodyPr>
          <a:lstStyle/>
          <a:p>
            <a:pPr algn="l"/>
            <a:r>
              <a:rPr sz="1000" b="0" i="0">
                <a:solidFill>
                  <a:srgbClr val="4FC3F7"/>
                </a:solidFill>
              </a:rPr>
              <a:t>03 — FRONTEND</a:t>
            </a:r>
          </a:p>
        </p:txBody>
      </p:sp>
      <p:sp>
        <p:nvSpPr>
          <p:cNvPr id="4" name="TextBox 3"/>
          <p:cNvSpPr txBox="1"/>
          <p:nvPr/>
        </p:nvSpPr>
        <p:spPr>
          <a:xfrm>
            <a:off x="457200" y="594360"/>
            <a:ext cx="10972800" cy="640080"/>
          </a:xfrm>
          <a:prstGeom prst="rect">
            <a:avLst/>
          </a:prstGeom>
          <a:noFill/>
        </p:spPr>
        <p:txBody>
          <a:bodyPr wrap="square">
            <a:spAutoFit/>
          </a:bodyPr>
          <a:lstStyle/>
          <a:p>
            <a:pPr algn="l"/>
            <a:r>
              <a:rPr sz="2800" b="1" i="0">
                <a:solidFill>
                  <a:srgbClr val="FFFFFF"/>
                </a:solidFill>
              </a:rPr>
              <a:t>La aplicación por fuera: 8 secciones principales</a:t>
            </a:r>
          </a:p>
        </p:txBody>
      </p:sp>
      <p:sp>
        <p:nvSpPr>
          <p:cNvPr id="5" name="Rectangle 4"/>
          <p:cNvSpPr/>
          <p:nvPr/>
        </p:nvSpPr>
        <p:spPr>
          <a:xfrm>
            <a:off x="457200" y="1234440"/>
            <a:ext cx="2286000" cy="36576"/>
          </a:xfrm>
          <a:prstGeom prst="rect">
            <a:avLst/>
          </a:prstGeom>
          <a:solidFill>
            <a:srgbClr val="2A5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417320"/>
            <a:ext cx="2743200" cy="2103120"/>
          </a:xfrm>
          <a:prstGeom prst="rect">
            <a:avLst/>
          </a:prstGeom>
          <a:solidFill>
            <a:srgbClr val="101E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554480"/>
            <a:ext cx="2468880" cy="457200"/>
          </a:xfrm>
          <a:prstGeom prst="rect">
            <a:avLst/>
          </a:prstGeom>
          <a:noFill/>
        </p:spPr>
        <p:txBody>
          <a:bodyPr wrap="square">
            <a:spAutoFit/>
          </a:bodyPr>
          <a:lstStyle/>
          <a:p>
            <a:pPr algn="l"/>
            <a:r>
              <a:rPr sz="2200" b="0" i="0">
                <a:solidFill>
                  <a:srgbClr val="FFFFFF"/>
                </a:solidFill>
              </a:rPr>
              <a:t>🏠</a:t>
            </a:r>
          </a:p>
        </p:txBody>
      </p:sp>
      <p:sp>
        <p:nvSpPr>
          <p:cNvPr id="8" name="TextBox 7"/>
          <p:cNvSpPr txBox="1"/>
          <p:nvPr/>
        </p:nvSpPr>
        <p:spPr>
          <a:xfrm>
            <a:off x="594360" y="2011680"/>
            <a:ext cx="2468880" cy="365760"/>
          </a:xfrm>
          <a:prstGeom prst="rect">
            <a:avLst/>
          </a:prstGeom>
          <a:noFill/>
        </p:spPr>
        <p:txBody>
          <a:bodyPr wrap="square">
            <a:spAutoFit/>
          </a:bodyPr>
          <a:lstStyle/>
          <a:p>
            <a:pPr algn="l"/>
            <a:r>
              <a:rPr sz="1300" b="1" i="0">
                <a:solidFill>
                  <a:srgbClr val="FFFFFF"/>
                </a:solidFill>
              </a:rPr>
              <a:t>Dashboard</a:t>
            </a:r>
          </a:p>
        </p:txBody>
      </p:sp>
      <p:sp>
        <p:nvSpPr>
          <p:cNvPr id="9" name="TextBox 8"/>
          <p:cNvSpPr txBox="1"/>
          <p:nvPr/>
        </p:nvSpPr>
        <p:spPr>
          <a:xfrm>
            <a:off x="594360" y="2377440"/>
            <a:ext cx="2468880" cy="914400"/>
          </a:xfrm>
          <a:prstGeom prst="rect">
            <a:avLst/>
          </a:prstGeom>
          <a:noFill/>
        </p:spPr>
        <p:txBody>
          <a:bodyPr wrap="square">
            <a:spAutoFit/>
          </a:bodyPr>
          <a:lstStyle/>
          <a:p>
            <a:pPr algn="l"/>
            <a:r>
              <a:rPr sz="1100" b="0" i="0">
                <a:solidFill>
                  <a:srgbClr val="CCD6E8"/>
                </a:solidFill>
              </a:rPr>
              <a:t>Últimos 5 entrenos, racha,
logros y mini-gráfico semanal.</a:t>
            </a:r>
          </a:p>
        </p:txBody>
      </p:sp>
      <p:sp>
        <p:nvSpPr>
          <p:cNvPr id="10" name="Rectangle 9"/>
          <p:cNvSpPr/>
          <p:nvPr/>
        </p:nvSpPr>
        <p:spPr>
          <a:xfrm>
            <a:off x="3291840" y="1417320"/>
            <a:ext cx="2743200" cy="2103120"/>
          </a:xfrm>
          <a:prstGeom prst="rect">
            <a:avLst/>
          </a:prstGeom>
          <a:solidFill>
            <a:srgbClr val="101E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29000" y="1554480"/>
            <a:ext cx="2468880" cy="457200"/>
          </a:xfrm>
          <a:prstGeom prst="rect">
            <a:avLst/>
          </a:prstGeom>
          <a:noFill/>
        </p:spPr>
        <p:txBody>
          <a:bodyPr wrap="square">
            <a:spAutoFit/>
          </a:bodyPr>
          <a:lstStyle/>
          <a:p>
            <a:pPr algn="l"/>
            <a:r>
              <a:rPr sz="2200" b="0" i="0">
                <a:solidFill>
                  <a:srgbClr val="FFFFFF"/>
                </a:solidFill>
              </a:rPr>
              <a:t>➕</a:t>
            </a:r>
          </a:p>
        </p:txBody>
      </p:sp>
      <p:sp>
        <p:nvSpPr>
          <p:cNvPr id="12" name="TextBox 11"/>
          <p:cNvSpPr txBox="1"/>
          <p:nvPr/>
        </p:nvSpPr>
        <p:spPr>
          <a:xfrm>
            <a:off x="3429000" y="2011680"/>
            <a:ext cx="2468880" cy="365760"/>
          </a:xfrm>
          <a:prstGeom prst="rect">
            <a:avLst/>
          </a:prstGeom>
          <a:noFill/>
        </p:spPr>
        <p:txBody>
          <a:bodyPr wrap="square">
            <a:spAutoFit/>
          </a:bodyPr>
          <a:lstStyle/>
          <a:p>
            <a:pPr algn="l"/>
            <a:r>
              <a:rPr sz="1300" b="1" i="0">
                <a:solidFill>
                  <a:srgbClr val="FFFFFF"/>
                </a:solidFill>
              </a:rPr>
              <a:t>Registrar Actividad</a:t>
            </a:r>
          </a:p>
        </p:txBody>
      </p:sp>
      <p:sp>
        <p:nvSpPr>
          <p:cNvPr id="13" name="TextBox 12"/>
          <p:cNvSpPr txBox="1"/>
          <p:nvPr/>
        </p:nvSpPr>
        <p:spPr>
          <a:xfrm>
            <a:off x="3429000" y="2377440"/>
            <a:ext cx="2468880" cy="914400"/>
          </a:xfrm>
          <a:prstGeom prst="rect">
            <a:avLst/>
          </a:prstGeom>
          <a:noFill/>
        </p:spPr>
        <p:txBody>
          <a:bodyPr wrap="square">
            <a:spAutoFit/>
          </a:bodyPr>
          <a:lstStyle/>
          <a:p>
            <a:pPr algn="l"/>
            <a:r>
              <a:rPr sz="1100" b="0" i="0">
                <a:solidFill>
                  <a:srgbClr val="CCD6E8"/>
                </a:solidFill>
              </a:rPr>
              <a:t>Formulario adaptativo por tipo.
Fuerza: ejercicios, series, reps y peso.</a:t>
            </a:r>
          </a:p>
        </p:txBody>
      </p:sp>
      <p:sp>
        <p:nvSpPr>
          <p:cNvPr id="14" name="Rectangle 13"/>
          <p:cNvSpPr/>
          <p:nvPr/>
        </p:nvSpPr>
        <p:spPr>
          <a:xfrm>
            <a:off x="6126480" y="1417320"/>
            <a:ext cx="2743200" cy="2103120"/>
          </a:xfrm>
          <a:prstGeom prst="rect">
            <a:avLst/>
          </a:prstGeom>
          <a:solidFill>
            <a:srgbClr val="101E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3640" y="1554480"/>
            <a:ext cx="2468880" cy="457200"/>
          </a:xfrm>
          <a:prstGeom prst="rect">
            <a:avLst/>
          </a:prstGeom>
          <a:noFill/>
        </p:spPr>
        <p:txBody>
          <a:bodyPr wrap="square">
            <a:spAutoFit/>
          </a:bodyPr>
          <a:lstStyle/>
          <a:p>
            <a:pPr algn="l"/>
            <a:r>
              <a:rPr sz="2200" b="0" i="0">
                <a:solidFill>
                  <a:srgbClr val="FFFFFF"/>
                </a:solidFill>
              </a:rPr>
              <a:t>📋</a:t>
            </a:r>
          </a:p>
        </p:txBody>
      </p:sp>
      <p:sp>
        <p:nvSpPr>
          <p:cNvPr id="16" name="TextBox 15"/>
          <p:cNvSpPr txBox="1"/>
          <p:nvPr/>
        </p:nvSpPr>
        <p:spPr>
          <a:xfrm>
            <a:off x="6263640" y="2011680"/>
            <a:ext cx="2468880" cy="365760"/>
          </a:xfrm>
          <a:prstGeom prst="rect">
            <a:avLst/>
          </a:prstGeom>
          <a:noFill/>
        </p:spPr>
        <p:txBody>
          <a:bodyPr wrap="square">
            <a:spAutoFit/>
          </a:bodyPr>
          <a:lstStyle/>
          <a:p>
            <a:pPr algn="l"/>
            <a:r>
              <a:rPr sz="1300" b="1" i="0">
                <a:solidFill>
                  <a:srgbClr val="FFFFFF"/>
                </a:solidFill>
              </a:rPr>
              <a:t>Historial</a:t>
            </a:r>
          </a:p>
        </p:txBody>
      </p:sp>
      <p:sp>
        <p:nvSpPr>
          <p:cNvPr id="17" name="TextBox 16"/>
          <p:cNvSpPr txBox="1"/>
          <p:nvPr/>
        </p:nvSpPr>
        <p:spPr>
          <a:xfrm>
            <a:off x="6263640" y="2377440"/>
            <a:ext cx="2468880" cy="914400"/>
          </a:xfrm>
          <a:prstGeom prst="rect">
            <a:avLst/>
          </a:prstGeom>
          <a:noFill/>
        </p:spPr>
        <p:txBody>
          <a:bodyPr wrap="square">
            <a:spAutoFit/>
          </a:bodyPr>
          <a:lstStyle/>
          <a:p>
            <a:pPr algn="l"/>
            <a:r>
              <a:rPr sz="1100" b="0" i="0">
                <a:solidFill>
                  <a:srgbClr val="CCD6E8"/>
                </a:solidFill>
              </a:rPr>
              <a:t>Lista paginada. Filtro
por tipo, edición y eliminación.</a:t>
            </a:r>
          </a:p>
        </p:txBody>
      </p:sp>
      <p:sp>
        <p:nvSpPr>
          <p:cNvPr id="18" name="Rectangle 17"/>
          <p:cNvSpPr/>
          <p:nvPr/>
        </p:nvSpPr>
        <p:spPr>
          <a:xfrm>
            <a:off x="8961120" y="1417320"/>
            <a:ext cx="2743200" cy="2103120"/>
          </a:xfrm>
          <a:prstGeom prst="rect">
            <a:avLst/>
          </a:prstGeom>
          <a:solidFill>
            <a:srgbClr val="101E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280" y="1554480"/>
            <a:ext cx="2468880" cy="457200"/>
          </a:xfrm>
          <a:prstGeom prst="rect">
            <a:avLst/>
          </a:prstGeom>
          <a:noFill/>
        </p:spPr>
        <p:txBody>
          <a:bodyPr wrap="square">
            <a:spAutoFit/>
          </a:bodyPr>
          <a:lstStyle/>
          <a:p>
            <a:pPr algn="l"/>
            <a:r>
              <a:rPr sz="2200" b="0" i="0">
                <a:solidFill>
                  <a:srgbClr val="FFFFFF"/>
                </a:solidFill>
              </a:rPr>
              <a:t>📊</a:t>
            </a:r>
          </a:p>
        </p:txBody>
      </p:sp>
      <p:sp>
        <p:nvSpPr>
          <p:cNvPr id="20" name="TextBox 19"/>
          <p:cNvSpPr txBox="1"/>
          <p:nvPr/>
        </p:nvSpPr>
        <p:spPr>
          <a:xfrm>
            <a:off x="9098280" y="2011680"/>
            <a:ext cx="2468880" cy="365760"/>
          </a:xfrm>
          <a:prstGeom prst="rect">
            <a:avLst/>
          </a:prstGeom>
          <a:noFill/>
        </p:spPr>
        <p:txBody>
          <a:bodyPr wrap="square">
            <a:spAutoFit/>
          </a:bodyPr>
          <a:lstStyle/>
          <a:p>
            <a:pPr algn="l"/>
            <a:r>
              <a:rPr sz="1300" b="1" i="0">
                <a:solidFill>
                  <a:srgbClr val="FFFFFF"/>
                </a:solidFill>
              </a:rPr>
              <a:t>Estadísticas</a:t>
            </a:r>
          </a:p>
        </p:txBody>
      </p:sp>
      <p:sp>
        <p:nvSpPr>
          <p:cNvPr id="21" name="TextBox 20"/>
          <p:cNvSpPr txBox="1"/>
          <p:nvPr/>
        </p:nvSpPr>
        <p:spPr>
          <a:xfrm>
            <a:off x="9098280" y="2377440"/>
            <a:ext cx="2468880" cy="914400"/>
          </a:xfrm>
          <a:prstGeom prst="rect">
            <a:avLst/>
          </a:prstGeom>
          <a:noFill/>
        </p:spPr>
        <p:txBody>
          <a:bodyPr wrap="square">
            <a:spAutoFit/>
          </a:bodyPr>
          <a:lstStyle/>
          <a:p>
            <a:pPr algn="l"/>
            <a:r>
              <a:rPr sz="1100" b="0" i="0">
                <a:solidFill>
                  <a:srgbClr val="CCD6E8"/>
                </a:solidFill>
              </a:rPr>
              <a:t>Gráfica de evolución, donut
por tipo y comparativa con periodo anterior.</a:t>
            </a:r>
          </a:p>
        </p:txBody>
      </p:sp>
      <p:sp>
        <p:nvSpPr>
          <p:cNvPr id="22" name="Rectangle 21"/>
          <p:cNvSpPr/>
          <p:nvPr/>
        </p:nvSpPr>
        <p:spPr>
          <a:xfrm>
            <a:off x="457200" y="3611880"/>
            <a:ext cx="2743200" cy="2103120"/>
          </a:xfrm>
          <a:prstGeom prst="rect">
            <a:avLst/>
          </a:prstGeom>
          <a:solidFill>
            <a:srgbClr val="101E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3749040"/>
            <a:ext cx="2468880" cy="457200"/>
          </a:xfrm>
          <a:prstGeom prst="rect">
            <a:avLst/>
          </a:prstGeom>
          <a:noFill/>
        </p:spPr>
        <p:txBody>
          <a:bodyPr wrap="square">
            <a:spAutoFit/>
          </a:bodyPr>
          <a:lstStyle/>
          <a:p>
            <a:pPr algn="l"/>
            <a:r>
              <a:rPr sz="2200" b="0" i="0">
                <a:solidFill>
                  <a:srgbClr val="FFFFFF"/>
                </a:solidFill>
              </a:rPr>
              <a:t>🎯</a:t>
            </a:r>
          </a:p>
        </p:txBody>
      </p:sp>
      <p:sp>
        <p:nvSpPr>
          <p:cNvPr id="24" name="TextBox 23"/>
          <p:cNvSpPr txBox="1"/>
          <p:nvPr/>
        </p:nvSpPr>
        <p:spPr>
          <a:xfrm>
            <a:off x="594360" y="4206240"/>
            <a:ext cx="2468880" cy="365760"/>
          </a:xfrm>
          <a:prstGeom prst="rect">
            <a:avLst/>
          </a:prstGeom>
          <a:noFill/>
        </p:spPr>
        <p:txBody>
          <a:bodyPr wrap="square">
            <a:spAutoFit/>
          </a:bodyPr>
          <a:lstStyle/>
          <a:p>
            <a:pPr algn="l"/>
            <a:r>
              <a:rPr sz="1300" b="1" i="0">
                <a:solidFill>
                  <a:srgbClr val="FFFFFF"/>
                </a:solidFill>
              </a:rPr>
              <a:t>Objetivos</a:t>
            </a:r>
          </a:p>
        </p:txBody>
      </p:sp>
      <p:sp>
        <p:nvSpPr>
          <p:cNvPr id="25" name="TextBox 24"/>
          <p:cNvSpPr txBox="1"/>
          <p:nvPr/>
        </p:nvSpPr>
        <p:spPr>
          <a:xfrm>
            <a:off x="594360" y="4572000"/>
            <a:ext cx="2468880" cy="914400"/>
          </a:xfrm>
          <a:prstGeom prst="rect">
            <a:avLst/>
          </a:prstGeom>
          <a:noFill/>
        </p:spPr>
        <p:txBody>
          <a:bodyPr wrap="square">
            <a:spAutoFit/>
          </a:bodyPr>
          <a:lstStyle/>
          <a:p>
            <a:pPr algn="l"/>
            <a:r>
              <a:rPr sz="1100" b="0" i="0">
                <a:solidFill>
                  <a:srgbClr val="CCD6E8"/>
                </a:solidFill>
              </a:rPr>
              <a:t>Días entrenados, volumen o peso.
Progreso calculado automáticamente.</a:t>
            </a:r>
          </a:p>
        </p:txBody>
      </p:sp>
      <p:sp>
        <p:nvSpPr>
          <p:cNvPr id="26" name="Rectangle 25"/>
          <p:cNvSpPr/>
          <p:nvPr/>
        </p:nvSpPr>
        <p:spPr>
          <a:xfrm>
            <a:off x="3291840" y="3611880"/>
            <a:ext cx="2743200" cy="2103120"/>
          </a:xfrm>
          <a:prstGeom prst="rect">
            <a:avLst/>
          </a:prstGeom>
          <a:solidFill>
            <a:srgbClr val="101E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429000" y="3749040"/>
            <a:ext cx="2468880" cy="457200"/>
          </a:xfrm>
          <a:prstGeom prst="rect">
            <a:avLst/>
          </a:prstGeom>
          <a:noFill/>
        </p:spPr>
        <p:txBody>
          <a:bodyPr wrap="square">
            <a:spAutoFit/>
          </a:bodyPr>
          <a:lstStyle/>
          <a:p>
            <a:pPr algn="l"/>
            <a:r>
              <a:rPr sz="2200" b="0" i="0">
                <a:solidFill>
                  <a:srgbClr val="FFFFFF"/>
                </a:solidFill>
              </a:rPr>
              <a:t>📅</a:t>
            </a:r>
          </a:p>
        </p:txBody>
      </p:sp>
      <p:sp>
        <p:nvSpPr>
          <p:cNvPr id="28" name="TextBox 27"/>
          <p:cNvSpPr txBox="1"/>
          <p:nvPr/>
        </p:nvSpPr>
        <p:spPr>
          <a:xfrm>
            <a:off x="3429000" y="4206240"/>
            <a:ext cx="2468880" cy="365760"/>
          </a:xfrm>
          <a:prstGeom prst="rect">
            <a:avLst/>
          </a:prstGeom>
          <a:noFill/>
        </p:spPr>
        <p:txBody>
          <a:bodyPr wrap="square">
            <a:spAutoFit/>
          </a:bodyPr>
          <a:lstStyle/>
          <a:p>
            <a:pPr algn="l"/>
            <a:r>
              <a:rPr sz="1300" b="1" i="0">
                <a:solidFill>
                  <a:srgbClr val="FFFFFF"/>
                </a:solidFill>
              </a:rPr>
              <a:t>Calendario</a:t>
            </a:r>
          </a:p>
        </p:txBody>
      </p:sp>
      <p:sp>
        <p:nvSpPr>
          <p:cNvPr id="29" name="TextBox 28"/>
          <p:cNvSpPr txBox="1"/>
          <p:nvPr/>
        </p:nvSpPr>
        <p:spPr>
          <a:xfrm>
            <a:off x="3429000" y="4572000"/>
            <a:ext cx="2468880" cy="914400"/>
          </a:xfrm>
          <a:prstGeom prst="rect">
            <a:avLst/>
          </a:prstGeom>
          <a:noFill/>
        </p:spPr>
        <p:txBody>
          <a:bodyPr wrap="square">
            <a:spAutoFit/>
          </a:bodyPr>
          <a:lstStyle/>
          <a:p>
            <a:pPr algn="l"/>
            <a:r>
              <a:rPr sz="1100" b="0" i="0">
                <a:solidFill>
                  <a:srgbClr val="CCD6E8"/>
                </a:solidFill>
              </a:rPr>
              <a:t>Calendario mensual interactivo.
Entrenos por color, clic para registrar.</a:t>
            </a:r>
          </a:p>
        </p:txBody>
      </p:sp>
      <p:sp>
        <p:nvSpPr>
          <p:cNvPr id="30" name="Rectangle 29"/>
          <p:cNvSpPr/>
          <p:nvPr/>
        </p:nvSpPr>
        <p:spPr>
          <a:xfrm>
            <a:off x="6126480" y="3611880"/>
            <a:ext cx="2743200" cy="2103120"/>
          </a:xfrm>
          <a:prstGeom prst="rect">
            <a:avLst/>
          </a:prstGeom>
          <a:solidFill>
            <a:srgbClr val="101E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63640" y="3749040"/>
            <a:ext cx="2468880" cy="457200"/>
          </a:xfrm>
          <a:prstGeom prst="rect">
            <a:avLst/>
          </a:prstGeom>
          <a:noFill/>
        </p:spPr>
        <p:txBody>
          <a:bodyPr wrap="square">
            <a:spAutoFit/>
          </a:bodyPr>
          <a:lstStyle/>
          <a:p>
            <a:pPr algn="l"/>
            <a:r>
              <a:rPr sz="2200" b="0" i="0">
                <a:solidFill>
                  <a:srgbClr val="FFFFFF"/>
                </a:solidFill>
              </a:rPr>
              <a:t>👤</a:t>
            </a:r>
          </a:p>
        </p:txBody>
      </p:sp>
      <p:sp>
        <p:nvSpPr>
          <p:cNvPr id="32" name="TextBox 31"/>
          <p:cNvSpPr txBox="1"/>
          <p:nvPr/>
        </p:nvSpPr>
        <p:spPr>
          <a:xfrm>
            <a:off x="6263640" y="4206240"/>
            <a:ext cx="2468880" cy="365760"/>
          </a:xfrm>
          <a:prstGeom prst="rect">
            <a:avLst/>
          </a:prstGeom>
          <a:noFill/>
        </p:spPr>
        <p:txBody>
          <a:bodyPr wrap="square">
            <a:spAutoFit/>
          </a:bodyPr>
          <a:lstStyle/>
          <a:p>
            <a:pPr algn="l"/>
            <a:r>
              <a:rPr sz="1300" b="1" i="0">
                <a:solidFill>
                  <a:srgbClr val="FFFFFF"/>
                </a:solidFill>
              </a:rPr>
              <a:t>Mi Perfil</a:t>
            </a:r>
          </a:p>
        </p:txBody>
      </p:sp>
      <p:sp>
        <p:nvSpPr>
          <p:cNvPr id="33" name="TextBox 32"/>
          <p:cNvSpPr txBox="1"/>
          <p:nvPr/>
        </p:nvSpPr>
        <p:spPr>
          <a:xfrm>
            <a:off x="6263640" y="4572000"/>
            <a:ext cx="2468880" cy="914400"/>
          </a:xfrm>
          <a:prstGeom prst="rect">
            <a:avLst/>
          </a:prstGeom>
          <a:noFill/>
        </p:spPr>
        <p:txBody>
          <a:bodyPr wrap="square">
            <a:spAutoFit/>
          </a:bodyPr>
          <a:lstStyle/>
          <a:p>
            <a:pPr algn="l"/>
            <a:r>
              <a:rPr sz="1100" b="0" i="0">
                <a:solidFill>
                  <a:srgbClr val="CCD6E8"/>
                </a:solidFill>
              </a:rPr>
              <a:t>Foto, métricas físicas
e historial de peso corporal.</a:t>
            </a:r>
          </a:p>
        </p:txBody>
      </p:sp>
      <p:sp>
        <p:nvSpPr>
          <p:cNvPr id="34" name="Rectangle 33"/>
          <p:cNvSpPr/>
          <p:nvPr/>
        </p:nvSpPr>
        <p:spPr>
          <a:xfrm>
            <a:off x="8961120" y="3611880"/>
            <a:ext cx="2743200" cy="2103120"/>
          </a:xfrm>
          <a:prstGeom prst="rect">
            <a:avLst/>
          </a:prstGeom>
          <a:solidFill>
            <a:srgbClr val="101E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098280" y="3749040"/>
            <a:ext cx="2468880" cy="457200"/>
          </a:xfrm>
          <a:prstGeom prst="rect">
            <a:avLst/>
          </a:prstGeom>
          <a:noFill/>
        </p:spPr>
        <p:txBody>
          <a:bodyPr wrap="square">
            <a:spAutoFit/>
          </a:bodyPr>
          <a:lstStyle/>
          <a:p>
            <a:pPr algn="l"/>
            <a:r>
              <a:rPr sz="2200" b="0" i="0">
                <a:solidFill>
                  <a:srgbClr val="FFFFFF"/>
                </a:solidFill>
              </a:rPr>
              <a:t>🏆</a:t>
            </a:r>
          </a:p>
        </p:txBody>
      </p:sp>
      <p:sp>
        <p:nvSpPr>
          <p:cNvPr id="36" name="TextBox 35"/>
          <p:cNvSpPr txBox="1"/>
          <p:nvPr/>
        </p:nvSpPr>
        <p:spPr>
          <a:xfrm>
            <a:off x="9098280" y="4206240"/>
            <a:ext cx="2468880" cy="365760"/>
          </a:xfrm>
          <a:prstGeom prst="rect">
            <a:avLst/>
          </a:prstGeom>
          <a:noFill/>
        </p:spPr>
        <p:txBody>
          <a:bodyPr wrap="square">
            <a:spAutoFit/>
          </a:bodyPr>
          <a:lstStyle/>
          <a:p>
            <a:pPr algn="l"/>
            <a:r>
              <a:rPr sz="1300" b="1" i="0">
                <a:solidFill>
                  <a:srgbClr val="FFFFFF"/>
                </a:solidFill>
              </a:rPr>
              <a:t>Gamificación</a:t>
            </a:r>
          </a:p>
        </p:txBody>
      </p:sp>
      <p:sp>
        <p:nvSpPr>
          <p:cNvPr id="37" name="TextBox 36"/>
          <p:cNvSpPr txBox="1"/>
          <p:nvPr/>
        </p:nvSpPr>
        <p:spPr>
          <a:xfrm>
            <a:off x="9098280" y="4572000"/>
            <a:ext cx="2468880" cy="914400"/>
          </a:xfrm>
          <a:prstGeom prst="rect">
            <a:avLst/>
          </a:prstGeom>
          <a:noFill/>
        </p:spPr>
        <p:txBody>
          <a:bodyPr wrap="square">
            <a:spAutoFit/>
          </a:bodyPr>
          <a:lstStyle/>
          <a:p>
            <a:pPr algn="l"/>
            <a:r>
              <a:rPr sz="1100" b="0" i="0">
                <a:solidFill>
                  <a:srgbClr val="CCD6E8"/>
                </a:solidFill>
              </a:rPr>
              <a:t>5 logros desbloqueables
y sistema de rachas de días.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54864" cy="6858000"/>
          </a:xfrm>
          <a:prstGeom prst="rect">
            <a:avLst/>
          </a:prstGeom>
          <a:solidFill>
            <a:srgbClr val="2A5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7315200" cy="274320"/>
          </a:xfrm>
          <a:prstGeom prst="rect">
            <a:avLst/>
          </a:prstGeom>
          <a:noFill/>
        </p:spPr>
        <p:txBody>
          <a:bodyPr wrap="square">
            <a:spAutoFit/>
          </a:bodyPr>
          <a:lstStyle/>
          <a:p>
            <a:pPr algn="l"/>
            <a:r>
              <a:rPr sz="1000" b="0" i="0">
                <a:solidFill>
                  <a:srgbClr val="4FC3F7"/>
                </a:solidFill>
              </a:rPr>
              <a:t>04 — BACKEND</a:t>
            </a:r>
          </a:p>
        </p:txBody>
      </p:sp>
      <p:sp>
        <p:nvSpPr>
          <p:cNvPr id="4" name="TextBox 3"/>
          <p:cNvSpPr txBox="1"/>
          <p:nvPr/>
        </p:nvSpPr>
        <p:spPr>
          <a:xfrm>
            <a:off x="457200" y="594360"/>
            <a:ext cx="10972800" cy="640080"/>
          </a:xfrm>
          <a:prstGeom prst="rect">
            <a:avLst/>
          </a:prstGeom>
          <a:noFill/>
        </p:spPr>
        <p:txBody>
          <a:bodyPr wrap="square">
            <a:spAutoFit/>
          </a:bodyPr>
          <a:lstStyle/>
          <a:p>
            <a:pPr algn="l"/>
            <a:r>
              <a:rPr sz="2800" b="1" i="0">
                <a:solidFill>
                  <a:srgbClr val="FFFFFF"/>
                </a:solidFill>
              </a:rPr>
              <a:t>Cómo funciona SinergyFit por dentro</a:t>
            </a:r>
          </a:p>
        </p:txBody>
      </p:sp>
      <p:sp>
        <p:nvSpPr>
          <p:cNvPr id="5" name="Rectangle 4"/>
          <p:cNvSpPr/>
          <p:nvPr/>
        </p:nvSpPr>
        <p:spPr>
          <a:xfrm>
            <a:off x="457200" y="1234440"/>
            <a:ext cx="2286000" cy="36576"/>
          </a:xfrm>
          <a:prstGeom prst="rect">
            <a:avLst/>
          </a:prstGeom>
          <a:solidFill>
            <a:srgbClr val="2A5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417320"/>
            <a:ext cx="11274552" cy="914400"/>
          </a:xfrm>
          <a:prstGeom prst="rect">
            <a:avLst/>
          </a:prstGeom>
          <a:solidFill>
            <a:srgbClr val="1225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508760"/>
            <a:ext cx="5486400" cy="365760"/>
          </a:xfrm>
          <a:prstGeom prst="rect">
            <a:avLst/>
          </a:prstGeom>
          <a:noFill/>
        </p:spPr>
        <p:txBody>
          <a:bodyPr wrap="square">
            <a:spAutoFit/>
          </a:bodyPr>
          <a:lstStyle/>
          <a:p>
            <a:pPr algn="l"/>
            <a:r>
              <a:rPr sz="1600" b="1" i="0">
                <a:solidFill>
                  <a:srgbClr val="FFFFFF"/>
                </a:solidFill>
              </a:rPr>
              <a:t>⚙️  Framework: Laravel 11</a:t>
            </a:r>
          </a:p>
        </p:txBody>
      </p:sp>
      <p:sp>
        <p:nvSpPr>
          <p:cNvPr id="8" name="TextBox 7"/>
          <p:cNvSpPr txBox="1"/>
          <p:nvPr/>
        </p:nvSpPr>
        <p:spPr>
          <a:xfrm>
            <a:off x="640080" y="1828800"/>
            <a:ext cx="10972800" cy="411480"/>
          </a:xfrm>
          <a:prstGeom prst="rect">
            <a:avLst/>
          </a:prstGeom>
          <a:noFill/>
        </p:spPr>
        <p:txBody>
          <a:bodyPr wrap="square">
            <a:spAutoFit/>
          </a:bodyPr>
          <a:lstStyle/>
          <a:p>
            <a:pPr algn="l"/>
            <a:r>
              <a:rPr sz="1200" b="0" i="0">
                <a:solidFill>
                  <a:srgbClr val="CCD6E8"/>
                </a:solidFill>
              </a:rPr>
              <a:t>Una caja de herramientas ya construida: login, base de datos, validaciones, rutas y sesiones vienen resueltos y seguros por defecto.
El desarrollador solo se centra en la lógica propia de la aplicación.</a:t>
            </a:r>
          </a:p>
        </p:txBody>
      </p:sp>
      <p:sp>
        <p:nvSpPr>
          <p:cNvPr id="9" name="TextBox 8"/>
          <p:cNvSpPr txBox="1"/>
          <p:nvPr/>
        </p:nvSpPr>
        <p:spPr>
          <a:xfrm>
            <a:off x="457200" y="2514600"/>
            <a:ext cx="11430000" cy="320040"/>
          </a:xfrm>
          <a:prstGeom prst="rect">
            <a:avLst/>
          </a:prstGeom>
          <a:noFill/>
        </p:spPr>
        <p:txBody>
          <a:bodyPr wrap="square">
            <a:spAutoFit/>
          </a:bodyPr>
          <a:lstStyle/>
          <a:p>
            <a:pPr algn="ctr"/>
            <a:r>
              <a:rPr sz="1000" b="1" i="0">
                <a:solidFill>
                  <a:srgbClr val="8090AA"/>
                </a:solidFill>
              </a:rPr>
              <a:t>PATRÓN DE ARQUITECTURA: MVC — MODELO · VISTA · CONTROLADOR</a:t>
            </a:r>
          </a:p>
        </p:txBody>
      </p:sp>
      <p:sp>
        <p:nvSpPr>
          <p:cNvPr id="10" name="Rectangle 9"/>
          <p:cNvSpPr/>
          <p:nvPr/>
        </p:nvSpPr>
        <p:spPr>
          <a:xfrm>
            <a:off x="457200" y="2880360"/>
            <a:ext cx="3657600" cy="3520440"/>
          </a:xfrm>
          <a:prstGeom prst="rect">
            <a:avLst/>
          </a:prstGeom>
          <a:solidFill>
            <a:srgbClr val="101E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3017520"/>
            <a:ext cx="731520" cy="822960"/>
          </a:xfrm>
          <a:prstGeom prst="rect">
            <a:avLst/>
          </a:prstGeom>
          <a:noFill/>
        </p:spPr>
        <p:txBody>
          <a:bodyPr wrap="square">
            <a:spAutoFit/>
          </a:bodyPr>
          <a:lstStyle/>
          <a:p>
            <a:pPr algn="l"/>
            <a:r>
              <a:rPr sz="4400" b="1" i="0">
                <a:solidFill>
                  <a:srgbClr val="4FC3F7"/>
                </a:solidFill>
              </a:rPr>
              <a:t>M</a:t>
            </a:r>
          </a:p>
        </p:txBody>
      </p:sp>
      <p:sp>
        <p:nvSpPr>
          <p:cNvPr id="12" name="TextBox 11"/>
          <p:cNvSpPr txBox="1"/>
          <p:nvPr/>
        </p:nvSpPr>
        <p:spPr>
          <a:xfrm>
            <a:off x="640080" y="3749039"/>
            <a:ext cx="3291840" cy="274320"/>
          </a:xfrm>
          <a:prstGeom prst="rect">
            <a:avLst/>
          </a:prstGeom>
          <a:noFill/>
        </p:spPr>
        <p:txBody>
          <a:bodyPr wrap="square">
            <a:spAutoFit/>
          </a:bodyPr>
          <a:lstStyle/>
          <a:p>
            <a:pPr algn="l"/>
            <a:r>
              <a:rPr sz="1100" b="1" i="0">
                <a:solidFill>
                  <a:srgbClr val="4FC3F7"/>
                </a:solidFill>
              </a:rPr>
              <a:t>MODELO</a:t>
            </a:r>
          </a:p>
        </p:txBody>
      </p:sp>
      <p:sp>
        <p:nvSpPr>
          <p:cNvPr id="13" name="Rectangle 12"/>
          <p:cNvSpPr/>
          <p:nvPr/>
        </p:nvSpPr>
        <p:spPr>
          <a:xfrm>
            <a:off x="640080" y="4023360"/>
            <a:ext cx="3291840" cy="274320"/>
          </a:xfrm>
          <a:prstGeom prst="rect">
            <a:avLst/>
          </a:prstGeom>
          <a:solidFill>
            <a:srgbClr val="050C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4050791"/>
            <a:ext cx="3200400" cy="228600"/>
          </a:xfrm>
          <a:prstGeom prst="rect">
            <a:avLst/>
          </a:prstGeom>
          <a:noFill/>
        </p:spPr>
        <p:txBody>
          <a:bodyPr wrap="square">
            <a:spAutoFit/>
          </a:bodyPr>
          <a:lstStyle/>
          <a:p>
            <a:pPr algn="l"/>
            <a:r>
              <a:rPr sz="900" b="0" i="0">
                <a:solidFill>
                  <a:srgbClr val="8090AA"/>
                </a:solidFill>
              </a:rPr>
              <a:t>app/Models/</a:t>
            </a:r>
          </a:p>
        </p:txBody>
      </p:sp>
      <p:sp>
        <p:nvSpPr>
          <p:cNvPr id="15" name="TextBox 14"/>
          <p:cNvSpPr txBox="1"/>
          <p:nvPr/>
        </p:nvSpPr>
        <p:spPr>
          <a:xfrm>
            <a:off x="640080" y="4389120"/>
            <a:ext cx="3291840" cy="1005840"/>
          </a:xfrm>
          <a:prstGeom prst="rect">
            <a:avLst/>
          </a:prstGeom>
          <a:noFill/>
        </p:spPr>
        <p:txBody>
          <a:bodyPr wrap="square">
            <a:spAutoFit/>
          </a:bodyPr>
          <a:lstStyle/>
          <a:p>
            <a:pPr algn="l"/>
            <a:r>
              <a:rPr sz="1100" b="0" i="0">
                <a:solidFill>
                  <a:srgbClr val="CCD6E8"/>
                </a:solidFill>
              </a:rPr>
              <a:t>Habla con la base de datos. Cada tabla tiene su clase PHP. En lugar de SQL crudo se usa Eloquent ORM.</a:t>
            </a:r>
          </a:p>
        </p:txBody>
      </p:sp>
      <p:sp>
        <p:nvSpPr>
          <p:cNvPr id="16" name="Rectangle 15"/>
          <p:cNvSpPr/>
          <p:nvPr/>
        </p:nvSpPr>
        <p:spPr>
          <a:xfrm>
            <a:off x="640080" y="5486400"/>
            <a:ext cx="3291840" cy="685800"/>
          </a:xfrm>
          <a:prstGeom prst="rect">
            <a:avLst/>
          </a:prstGeom>
          <a:solidFill>
            <a:srgbClr val="050C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5532120"/>
            <a:ext cx="3108960" cy="594360"/>
          </a:xfrm>
          <a:prstGeom prst="rect">
            <a:avLst/>
          </a:prstGeom>
          <a:noFill/>
        </p:spPr>
        <p:txBody>
          <a:bodyPr wrap="square">
            <a:spAutoFit/>
          </a:bodyPr>
          <a:lstStyle/>
          <a:p>
            <a:pPr algn="l"/>
            <a:r>
              <a:rPr sz="900" b="0" i="0">
                <a:solidFill>
                  <a:srgbClr val="8090AA"/>
                </a:solidFill>
              </a:rPr>
              <a:t>Entrenamiento::where(
  'usuario_id', 5)-&gt;get()</a:t>
            </a:r>
          </a:p>
        </p:txBody>
      </p:sp>
      <p:sp>
        <p:nvSpPr>
          <p:cNvPr id="18" name="Rectangle 17"/>
          <p:cNvSpPr/>
          <p:nvPr/>
        </p:nvSpPr>
        <p:spPr>
          <a:xfrm>
            <a:off x="4261104" y="2880360"/>
            <a:ext cx="3657600" cy="3520440"/>
          </a:xfrm>
          <a:prstGeom prst="rect">
            <a:avLst/>
          </a:prstGeom>
          <a:solidFill>
            <a:srgbClr val="101E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43984" y="3017520"/>
            <a:ext cx="731520" cy="822960"/>
          </a:xfrm>
          <a:prstGeom prst="rect">
            <a:avLst/>
          </a:prstGeom>
          <a:noFill/>
        </p:spPr>
        <p:txBody>
          <a:bodyPr wrap="square">
            <a:spAutoFit/>
          </a:bodyPr>
          <a:lstStyle/>
          <a:p>
            <a:pPr algn="l"/>
            <a:r>
              <a:rPr sz="4400" b="1" i="0">
                <a:solidFill>
                  <a:srgbClr val="4FC3F7"/>
                </a:solidFill>
              </a:rPr>
              <a:t>V</a:t>
            </a:r>
          </a:p>
        </p:txBody>
      </p:sp>
      <p:sp>
        <p:nvSpPr>
          <p:cNvPr id="20" name="TextBox 19"/>
          <p:cNvSpPr txBox="1"/>
          <p:nvPr/>
        </p:nvSpPr>
        <p:spPr>
          <a:xfrm>
            <a:off x="4443984" y="3749039"/>
            <a:ext cx="3291840" cy="274320"/>
          </a:xfrm>
          <a:prstGeom prst="rect">
            <a:avLst/>
          </a:prstGeom>
          <a:noFill/>
        </p:spPr>
        <p:txBody>
          <a:bodyPr wrap="square">
            <a:spAutoFit/>
          </a:bodyPr>
          <a:lstStyle/>
          <a:p>
            <a:pPr algn="l"/>
            <a:r>
              <a:rPr sz="1100" b="1" i="0">
                <a:solidFill>
                  <a:srgbClr val="4FC3F7"/>
                </a:solidFill>
              </a:rPr>
              <a:t>VISTA</a:t>
            </a:r>
          </a:p>
        </p:txBody>
      </p:sp>
      <p:sp>
        <p:nvSpPr>
          <p:cNvPr id="21" name="Rectangle 20"/>
          <p:cNvSpPr/>
          <p:nvPr/>
        </p:nvSpPr>
        <p:spPr>
          <a:xfrm>
            <a:off x="4443984" y="4023360"/>
            <a:ext cx="3291840" cy="274320"/>
          </a:xfrm>
          <a:prstGeom prst="rect">
            <a:avLst/>
          </a:prstGeom>
          <a:solidFill>
            <a:srgbClr val="050C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89704" y="4050791"/>
            <a:ext cx="3200400" cy="228600"/>
          </a:xfrm>
          <a:prstGeom prst="rect">
            <a:avLst/>
          </a:prstGeom>
          <a:noFill/>
        </p:spPr>
        <p:txBody>
          <a:bodyPr wrap="square">
            <a:spAutoFit/>
          </a:bodyPr>
          <a:lstStyle/>
          <a:p>
            <a:pPr algn="l"/>
            <a:r>
              <a:rPr sz="900" b="0" i="0">
                <a:solidFill>
                  <a:srgbClr val="8090AA"/>
                </a:solidFill>
              </a:rPr>
              <a:t>resources/views/</a:t>
            </a:r>
          </a:p>
        </p:txBody>
      </p:sp>
      <p:sp>
        <p:nvSpPr>
          <p:cNvPr id="23" name="TextBox 22"/>
          <p:cNvSpPr txBox="1"/>
          <p:nvPr/>
        </p:nvSpPr>
        <p:spPr>
          <a:xfrm>
            <a:off x="4443984" y="4389120"/>
            <a:ext cx="3291840" cy="1005840"/>
          </a:xfrm>
          <a:prstGeom prst="rect">
            <a:avLst/>
          </a:prstGeom>
          <a:noFill/>
        </p:spPr>
        <p:txBody>
          <a:bodyPr wrap="square">
            <a:spAutoFit/>
          </a:bodyPr>
          <a:lstStyle/>
          <a:p>
            <a:pPr algn="l"/>
            <a:r>
              <a:rPr sz="1100" b="0" i="0">
                <a:solidFill>
                  <a:srgbClr val="CCD6E8"/>
                </a:solidFill>
              </a:rPr>
              <a:t>Todo lo que ve el usuario. Plantillas Blade que mezclan HTML con datos de forma limpia. No hacen cálculos, solo muestran.</a:t>
            </a:r>
          </a:p>
        </p:txBody>
      </p:sp>
      <p:sp>
        <p:nvSpPr>
          <p:cNvPr id="24" name="Rectangle 23"/>
          <p:cNvSpPr/>
          <p:nvPr/>
        </p:nvSpPr>
        <p:spPr>
          <a:xfrm>
            <a:off x="4443984" y="5486400"/>
            <a:ext cx="3291840" cy="685800"/>
          </a:xfrm>
          <a:prstGeom prst="rect">
            <a:avLst/>
          </a:prstGeom>
          <a:solidFill>
            <a:srgbClr val="050C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35424" y="5532120"/>
            <a:ext cx="3108960" cy="594360"/>
          </a:xfrm>
          <a:prstGeom prst="rect">
            <a:avLst/>
          </a:prstGeom>
          <a:noFill/>
        </p:spPr>
        <p:txBody>
          <a:bodyPr wrap="square">
            <a:spAutoFit/>
          </a:bodyPr>
          <a:lstStyle/>
          <a:p>
            <a:pPr algn="l"/>
            <a:r>
              <a:rPr sz="900" b="0" i="0">
                <a:solidFill>
                  <a:srgbClr val="8090AA"/>
                </a:solidFill>
              </a:rPr>
              <a:t>@foreach($entrenos as $e)
  {{ $e-&gt;tipo }}
@endforeach</a:t>
            </a:r>
          </a:p>
        </p:txBody>
      </p:sp>
      <p:sp>
        <p:nvSpPr>
          <p:cNvPr id="26" name="Rectangle 25"/>
          <p:cNvSpPr/>
          <p:nvPr/>
        </p:nvSpPr>
        <p:spPr>
          <a:xfrm>
            <a:off x="8065008" y="2880360"/>
            <a:ext cx="3657600" cy="3520440"/>
          </a:xfrm>
          <a:prstGeom prst="rect">
            <a:avLst/>
          </a:prstGeom>
          <a:solidFill>
            <a:srgbClr val="101E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47888" y="3017520"/>
            <a:ext cx="731520" cy="822960"/>
          </a:xfrm>
          <a:prstGeom prst="rect">
            <a:avLst/>
          </a:prstGeom>
          <a:noFill/>
        </p:spPr>
        <p:txBody>
          <a:bodyPr wrap="square">
            <a:spAutoFit/>
          </a:bodyPr>
          <a:lstStyle/>
          <a:p>
            <a:pPr algn="l"/>
            <a:r>
              <a:rPr sz="4400" b="1" i="0">
                <a:solidFill>
                  <a:srgbClr val="4FC3F7"/>
                </a:solidFill>
              </a:rPr>
              <a:t>C</a:t>
            </a:r>
          </a:p>
        </p:txBody>
      </p:sp>
      <p:sp>
        <p:nvSpPr>
          <p:cNvPr id="28" name="TextBox 27"/>
          <p:cNvSpPr txBox="1"/>
          <p:nvPr/>
        </p:nvSpPr>
        <p:spPr>
          <a:xfrm>
            <a:off x="8247888" y="3749039"/>
            <a:ext cx="3291840" cy="274320"/>
          </a:xfrm>
          <a:prstGeom prst="rect">
            <a:avLst/>
          </a:prstGeom>
          <a:noFill/>
        </p:spPr>
        <p:txBody>
          <a:bodyPr wrap="square">
            <a:spAutoFit/>
          </a:bodyPr>
          <a:lstStyle/>
          <a:p>
            <a:pPr algn="l"/>
            <a:r>
              <a:rPr sz="1100" b="1" i="0">
                <a:solidFill>
                  <a:srgbClr val="4FC3F7"/>
                </a:solidFill>
              </a:rPr>
              <a:t>CONTROLADOR</a:t>
            </a:r>
          </a:p>
        </p:txBody>
      </p:sp>
      <p:sp>
        <p:nvSpPr>
          <p:cNvPr id="29" name="Rectangle 28"/>
          <p:cNvSpPr/>
          <p:nvPr/>
        </p:nvSpPr>
        <p:spPr>
          <a:xfrm>
            <a:off x="8247888" y="4023360"/>
            <a:ext cx="3291840" cy="274320"/>
          </a:xfrm>
          <a:prstGeom prst="rect">
            <a:avLst/>
          </a:prstGeom>
          <a:solidFill>
            <a:srgbClr val="050C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93608" y="4050791"/>
            <a:ext cx="3200400" cy="228600"/>
          </a:xfrm>
          <a:prstGeom prst="rect">
            <a:avLst/>
          </a:prstGeom>
          <a:noFill/>
        </p:spPr>
        <p:txBody>
          <a:bodyPr wrap="square">
            <a:spAutoFit/>
          </a:bodyPr>
          <a:lstStyle/>
          <a:p>
            <a:pPr algn="l"/>
            <a:r>
              <a:rPr sz="900" b="0" i="0">
                <a:solidFill>
                  <a:srgbClr val="8090AA"/>
                </a:solidFill>
              </a:rPr>
              <a:t>app/Http/Controllers/</a:t>
            </a:r>
          </a:p>
        </p:txBody>
      </p:sp>
      <p:sp>
        <p:nvSpPr>
          <p:cNvPr id="31" name="TextBox 30"/>
          <p:cNvSpPr txBox="1"/>
          <p:nvPr/>
        </p:nvSpPr>
        <p:spPr>
          <a:xfrm>
            <a:off x="8247888" y="4389120"/>
            <a:ext cx="3291840" cy="1005840"/>
          </a:xfrm>
          <a:prstGeom prst="rect">
            <a:avLst/>
          </a:prstGeom>
          <a:noFill/>
        </p:spPr>
        <p:txBody>
          <a:bodyPr wrap="square">
            <a:spAutoFit/>
          </a:bodyPr>
          <a:lstStyle/>
          <a:p>
            <a:pPr algn="l"/>
            <a:r>
              <a:rPr sz="1100" b="0" i="0">
                <a:solidFill>
                  <a:srgbClr val="CCD6E8"/>
                </a:solidFill>
              </a:rPr>
              <a:t>El intermediario. Recibe la petición, consulta el Modelo y pasa los datos a la Vista. Aquí vive toda la lógica de negocio.</a:t>
            </a:r>
          </a:p>
        </p:txBody>
      </p:sp>
      <p:sp>
        <p:nvSpPr>
          <p:cNvPr id="32" name="Rectangle 31"/>
          <p:cNvSpPr/>
          <p:nvPr/>
        </p:nvSpPr>
        <p:spPr>
          <a:xfrm>
            <a:off x="8247888" y="5486400"/>
            <a:ext cx="3291840" cy="685800"/>
          </a:xfrm>
          <a:prstGeom prst="rect">
            <a:avLst/>
          </a:prstGeom>
          <a:solidFill>
            <a:srgbClr val="050C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39328" y="5532120"/>
            <a:ext cx="3108960" cy="594360"/>
          </a:xfrm>
          <a:prstGeom prst="rect">
            <a:avLst/>
          </a:prstGeom>
          <a:noFill/>
        </p:spPr>
        <p:txBody>
          <a:bodyPr wrap="square">
            <a:spAutoFit/>
          </a:bodyPr>
          <a:lstStyle/>
          <a:p>
            <a:pPr algn="l"/>
            <a:r>
              <a:rPr sz="900" b="0" i="0">
                <a:solidFill>
                  <a:srgbClr val="8090AA"/>
                </a:solidFill>
              </a:rPr>
              <a:t>return view('estadisticas',
  ['datos' =&gt; $datos]);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2A5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7315200" cy="274320"/>
          </a:xfrm>
          <a:prstGeom prst="rect">
            <a:avLst/>
          </a:prstGeom>
          <a:noFill/>
        </p:spPr>
        <p:txBody>
          <a:bodyPr wrap="square">
            <a:spAutoFit/>
          </a:bodyPr>
          <a:lstStyle/>
          <a:p>
            <a:pPr algn="l"/>
            <a:r>
              <a:rPr sz="1000" b="0" i="0">
                <a:solidFill>
                  <a:srgbClr val="4FC3F7"/>
                </a:solidFill>
              </a:rPr>
              <a:t>04 — BACKEND · FLUJO HTTP</a:t>
            </a:r>
          </a:p>
        </p:txBody>
      </p:sp>
      <p:sp>
        <p:nvSpPr>
          <p:cNvPr id="4" name="TextBox 3"/>
          <p:cNvSpPr txBox="1"/>
          <p:nvPr/>
        </p:nvSpPr>
        <p:spPr>
          <a:xfrm>
            <a:off x="457200" y="594360"/>
            <a:ext cx="9144000" cy="594360"/>
          </a:xfrm>
          <a:prstGeom prst="rect">
            <a:avLst/>
          </a:prstGeom>
          <a:noFill/>
        </p:spPr>
        <p:txBody>
          <a:bodyPr wrap="square">
            <a:spAutoFit/>
          </a:bodyPr>
          <a:lstStyle/>
          <a:p>
            <a:pPr algn="l"/>
            <a:r>
              <a:rPr sz="2800" b="1" i="0">
                <a:solidFill>
                  <a:srgbClr val="FFFFFF"/>
                </a:solidFill>
              </a:rPr>
              <a:t>Ejemplo real: el usuario abre Estadísticas</a:t>
            </a:r>
          </a:p>
        </p:txBody>
      </p:sp>
      <p:sp>
        <p:nvSpPr>
          <p:cNvPr id="5" name="Rectangle 4"/>
          <p:cNvSpPr/>
          <p:nvPr/>
        </p:nvSpPr>
        <p:spPr>
          <a:xfrm>
            <a:off x="457200" y="1188720"/>
            <a:ext cx="2286000" cy="36576"/>
          </a:xfrm>
          <a:prstGeom prst="rect">
            <a:avLst/>
          </a:prstGeom>
          <a:solidFill>
            <a:srgbClr val="2A5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371600"/>
            <a:ext cx="411480" cy="384048"/>
          </a:xfrm>
          <a:prstGeom prst="rect">
            <a:avLst/>
          </a:prstGeom>
          <a:solidFill>
            <a:srgbClr val="2A5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399032"/>
            <a:ext cx="411480" cy="347472"/>
          </a:xfrm>
          <a:prstGeom prst="rect">
            <a:avLst/>
          </a:prstGeom>
          <a:noFill/>
        </p:spPr>
        <p:txBody>
          <a:bodyPr wrap="square">
            <a:spAutoFit/>
          </a:bodyPr>
          <a:lstStyle/>
          <a:p>
            <a:pPr algn="ctr"/>
            <a:r>
              <a:rPr sz="1300" b="1" i="0">
                <a:solidFill>
                  <a:srgbClr val="FFFFFF"/>
                </a:solidFill>
              </a:rPr>
              <a:t>1</a:t>
            </a:r>
          </a:p>
        </p:txBody>
      </p:sp>
      <p:sp>
        <p:nvSpPr>
          <p:cNvPr id="8" name="Rectangle 7"/>
          <p:cNvSpPr/>
          <p:nvPr/>
        </p:nvSpPr>
        <p:spPr>
          <a:xfrm>
            <a:off x="960120" y="1371600"/>
            <a:ext cx="10744200" cy="384048"/>
          </a:xfrm>
          <a:prstGeom prst="rect">
            <a:avLst/>
          </a:prstGeom>
          <a:solidFill>
            <a:srgbClr val="0E1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417320"/>
            <a:ext cx="10561320" cy="320040"/>
          </a:xfrm>
          <a:prstGeom prst="rect">
            <a:avLst/>
          </a:prstGeom>
          <a:noFill/>
        </p:spPr>
        <p:txBody>
          <a:bodyPr wrap="square">
            <a:spAutoFit/>
          </a:bodyPr>
          <a:lstStyle/>
          <a:p>
            <a:pPr algn="l"/>
            <a:r>
              <a:rPr sz="1200" b="0" i="0">
                <a:solidFill>
                  <a:srgbClr val="CCD6E8"/>
                </a:solidFill>
              </a:rPr>
              <a:t>El navegador envía:  GET /estadisticas</a:t>
            </a:r>
          </a:p>
        </p:txBody>
      </p:sp>
      <p:sp>
        <p:nvSpPr>
          <p:cNvPr id="10" name="Rectangle 9"/>
          <p:cNvSpPr/>
          <p:nvPr/>
        </p:nvSpPr>
        <p:spPr>
          <a:xfrm>
            <a:off x="457200" y="1856232"/>
            <a:ext cx="411480" cy="384048"/>
          </a:xfrm>
          <a:prstGeom prst="rect">
            <a:avLst/>
          </a:prstGeom>
          <a:solidFill>
            <a:srgbClr val="2A5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1883664"/>
            <a:ext cx="411480" cy="347472"/>
          </a:xfrm>
          <a:prstGeom prst="rect">
            <a:avLst/>
          </a:prstGeom>
          <a:noFill/>
        </p:spPr>
        <p:txBody>
          <a:bodyPr wrap="square">
            <a:spAutoFit/>
          </a:bodyPr>
          <a:lstStyle/>
          <a:p>
            <a:pPr algn="ctr"/>
            <a:r>
              <a:rPr sz="1300" b="1" i="0">
                <a:solidFill>
                  <a:srgbClr val="FFFFFF"/>
                </a:solidFill>
              </a:rPr>
              <a:t>2</a:t>
            </a:r>
          </a:p>
        </p:txBody>
      </p:sp>
      <p:sp>
        <p:nvSpPr>
          <p:cNvPr id="12" name="Rectangle 11"/>
          <p:cNvSpPr/>
          <p:nvPr/>
        </p:nvSpPr>
        <p:spPr>
          <a:xfrm>
            <a:off x="960120" y="1856232"/>
            <a:ext cx="10744200" cy="384048"/>
          </a:xfrm>
          <a:prstGeom prst="rect">
            <a:avLst/>
          </a:prstGeom>
          <a:solidFill>
            <a:srgbClr val="0E1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1901952"/>
            <a:ext cx="10561320" cy="320040"/>
          </a:xfrm>
          <a:prstGeom prst="rect">
            <a:avLst/>
          </a:prstGeom>
          <a:noFill/>
        </p:spPr>
        <p:txBody>
          <a:bodyPr wrap="square">
            <a:spAutoFit/>
          </a:bodyPr>
          <a:lstStyle/>
          <a:p>
            <a:pPr algn="l"/>
            <a:r>
              <a:rPr sz="1200" b="0" i="0">
                <a:solidFill>
                  <a:srgbClr val="CCD6E8"/>
                </a:solidFill>
              </a:rPr>
              <a:t>Apache recibe la petición y la pasa a  public/index.php  — punto de entrada de Laravel</a:t>
            </a:r>
          </a:p>
        </p:txBody>
      </p:sp>
      <p:sp>
        <p:nvSpPr>
          <p:cNvPr id="14" name="Rectangle 13"/>
          <p:cNvSpPr/>
          <p:nvPr/>
        </p:nvSpPr>
        <p:spPr>
          <a:xfrm>
            <a:off x="457200" y="2340864"/>
            <a:ext cx="411480" cy="384048"/>
          </a:xfrm>
          <a:prstGeom prst="rect">
            <a:avLst/>
          </a:prstGeom>
          <a:solidFill>
            <a:srgbClr val="2A5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2368296"/>
            <a:ext cx="411480" cy="347472"/>
          </a:xfrm>
          <a:prstGeom prst="rect">
            <a:avLst/>
          </a:prstGeom>
          <a:noFill/>
        </p:spPr>
        <p:txBody>
          <a:bodyPr wrap="square">
            <a:spAutoFit/>
          </a:bodyPr>
          <a:lstStyle/>
          <a:p>
            <a:pPr algn="ctr"/>
            <a:r>
              <a:rPr sz="1300" b="1" i="0">
                <a:solidFill>
                  <a:srgbClr val="FFFFFF"/>
                </a:solidFill>
              </a:rPr>
              <a:t>3</a:t>
            </a:r>
          </a:p>
        </p:txBody>
      </p:sp>
      <p:sp>
        <p:nvSpPr>
          <p:cNvPr id="16" name="Rectangle 15"/>
          <p:cNvSpPr/>
          <p:nvPr/>
        </p:nvSpPr>
        <p:spPr>
          <a:xfrm>
            <a:off x="960120" y="2340864"/>
            <a:ext cx="10744200" cy="384048"/>
          </a:xfrm>
          <a:prstGeom prst="rect">
            <a:avLst/>
          </a:prstGeom>
          <a:solidFill>
            <a:srgbClr val="0E1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2386584"/>
            <a:ext cx="10561320" cy="320040"/>
          </a:xfrm>
          <a:prstGeom prst="rect">
            <a:avLst/>
          </a:prstGeom>
          <a:noFill/>
        </p:spPr>
        <p:txBody>
          <a:bodyPr wrap="square">
            <a:spAutoFit/>
          </a:bodyPr>
          <a:lstStyle/>
          <a:p>
            <a:pPr algn="l"/>
            <a:r>
              <a:rPr sz="1200" b="0" i="0">
                <a:solidFill>
                  <a:srgbClr val="CCD6E8"/>
                </a:solidFill>
              </a:rPr>
              <a:t>Laravel busca en  routes/web.php  qué controlador gestiona esa URL</a:t>
            </a:r>
          </a:p>
        </p:txBody>
      </p:sp>
      <p:sp>
        <p:nvSpPr>
          <p:cNvPr id="18" name="Rectangle 17"/>
          <p:cNvSpPr/>
          <p:nvPr/>
        </p:nvSpPr>
        <p:spPr>
          <a:xfrm>
            <a:off x="457200" y="2825496"/>
            <a:ext cx="411480" cy="384048"/>
          </a:xfrm>
          <a:prstGeom prst="rect">
            <a:avLst/>
          </a:prstGeom>
          <a:solidFill>
            <a:srgbClr val="2A5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2852928"/>
            <a:ext cx="411480" cy="347472"/>
          </a:xfrm>
          <a:prstGeom prst="rect">
            <a:avLst/>
          </a:prstGeom>
          <a:noFill/>
        </p:spPr>
        <p:txBody>
          <a:bodyPr wrap="square">
            <a:spAutoFit/>
          </a:bodyPr>
          <a:lstStyle/>
          <a:p>
            <a:pPr algn="ctr"/>
            <a:r>
              <a:rPr sz="1300" b="1" i="0">
                <a:solidFill>
                  <a:srgbClr val="FFFFFF"/>
                </a:solidFill>
              </a:rPr>
              <a:t>4</a:t>
            </a:r>
          </a:p>
        </p:txBody>
      </p:sp>
      <p:sp>
        <p:nvSpPr>
          <p:cNvPr id="20" name="Rectangle 19"/>
          <p:cNvSpPr/>
          <p:nvPr/>
        </p:nvSpPr>
        <p:spPr>
          <a:xfrm>
            <a:off x="960120" y="2825496"/>
            <a:ext cx="10744200" cy="384048"/>
          </a:xfrm>
          <a:prstGeom prst="rect">
            <a:avLst/>
          </a:prstGeom>
          <a:solidFill>
            <a:srgbClr val="0E1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2871216"/>
            <a:ext cx="10561320" cy="320040"/>
          </a:xfrm>
          <a:prstGeom prst="rect">
            <a:avLst/>
          </a:prstGeom>
          <a:noFill/>
        </p:spPr>
        <p:txBody>
          <a:bodyPr wrap="square">
            <a:spAutoFit/>
          </a:bodyPr>
          <a:lstStyle/>
          <a:p>
            <a:pPr algn="l"/>
            <a:r>
              <a:rPr sz="1200" b="0" i="0">
                <a:solidFill>
                  <a:srgbClr val="CCD6E8"/>
                </a:solidFill>
              </a:rPr>
              <a:t>Middleware auth: ¿hay sesión activa? → Sí, continúa.  No → redirige a /login</a:t>
            </a:r>
          </a:p>
        </p:txBody>
      </p:sp>
      <p:sp>
        <p:nvSpPr>
          <p:cNvPr id="22" name="Rectangle 21"/>
          <p:cNvSpPr/>
          <p:nvPr/>
        </p:nvSpPr>
        <p:spPr>
          <a:xfrm>
            <a:off x="457200" y="3310128"/>
            <a:ext cx="411480" cy="384048"/>
          </a:xfrm>
          <a:prstGeom prst="rect">
            <a:avLst/>
          </a:prstGeom>
          <a:solidFill>
            <a:srgbClr val="2A5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3337560"/>
            <a:ext cx="411480" cy="347472"/>
          </a:xfrm>
          <a:prstGeom prst="rect">
            <a:avLst/>
          </a:prstGeom>
          <a:noFill/>
        </p:spPr>
        <p:txBody>
          <a:bodyPr wrap="square">
            <a:spAutoFit/>
          </a:bodyPr>
          <a:lstStyle/>
          <a:p>
            <a:pPr algn="ctr"/>
            <a:r>
              <a:rPr sz="1300" b="1" i="0">
                <a:solidFill>
                  <a:srgbClr val="FFFFFF"/>
                </a:solidFill>
              </a:rPr>
              <a:t>5</a:t>
            </a:r>
          </a:p>
        </p:txBody>
      </p:sp>
      <p:sp>
        <p:nvSpPr>
          <p:cNvPr id="24" name="Rectangle 23"/>
          <p:cNvSpPr/>
          <p:nvPr/>
        </p:nvSpPr>
        <p:spPr>
          <a:xfrm>
            <a:off x="960120" y="3310128"/>
            <a:ext cx="10744200" cy="384048"/>
          </a:xfrm>
          <a:prstGeom prst="rect">
            <a:avLst/>
          </a:prstGeom>
          <a:solidFill>
            <a:srgbClr val="0E1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3355848"/>
            <a:ext cx="10561320" cy="320040"/>
          </a:xfrm>
          <a:prstGeom prst="rect">
            <a:avLst/>
          </a:prstGeom>
          <a:noFill/>
        </p:spPr>
        <p:txBody>
          <a:bodyPr wrap="square">
            <a:spAutoFit/>
          </a:bodyPr>
          <a:lstStyle/>
          <a:p>
            <a:pPr algn="l"/>
            <a:r>
              <a:rPr sz="1200" b="0" i="0">
                <a:solidFill>
                  <a:srgbClr val="CCD6E8"/>
                </a:solidFill>
              </a:rPr>
              <a:t>Se ejecuta  MetricaController::index()  — consulta BD con Eloquent, calcula totales y tendencias</a:t>
            </a:r>
          </a:p>
        </p:txBody>
      </p:sp>
      <p:sp>
        <p:nvSpPr>
          <p:cNvPr id="26" name="Rectangle 25"/>
          <p:cNvSpPr/>
          <p:nvPr/>
        </p:nvSpPr>
        <p:spPr>
          <a:xfrm>
            <a:off x="457200" y="3794760"/>
            <a:ext cx="411480" cy="384048"/>
          </a:xfrm>
          <a:prstGeom prst="rect">
            <a:avLst/>
          </a:prstGeom>
          <a:solidFill>
            <a:srgbClr val="2A5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3822192"/>
            <a:ext cx="411480" cy="347472"/>
          </a:xfrm>
          <a:prstGeom prst="rect">
            <a:avLst/>
          </a:prstGeom>
          <a:noFill/>
        </p:spPr>
        <p:txBody>
          <a:bodyPr wrap="square">
            <a:spAutoFit/>
          </a:bodyPr>
          <a:lstStyle/>
          <a:p>
            <a:pPr algn="ctr"/>
            <a:r>
              <a:rPr sz="1300" b="1" i="0">
                <a:solidFill>
                  <a:srgbClr val="FFFFFF"/>
                </a:solidFill>
              </a:rPr>
              <a:t>6</a:t>
            </a:r>
          </a:p>
        </p:txBody>
      </p:sp>
      <p:sp>
        <p:nvSpPr>
          <p:cNvPr id="28" name="Rectangle 27"/>
          <p:cNvSpPr/>
          <p:nvPr/>
        </p:nvSpPr>
        <p:spPr>
          <a:xfrm>
            <a:off x="960120" y="3794760"/>
            <a:ext cx="10744200" cy="384048"/>
          </a:xfrm>
          <a:prstGeom prst="rect">
            <a:avLst/>
          </a:prstGeom>
          <a:solidFill>
            <a:srgbClr val="0E1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3840480"/>
            <a:ext cx="10561320" cy="320040"/>
          </a:xfrm>
          <a:prstGeom prst="rect">
            <a:avLst/>
          </a:prstGeom>
          <a:noFill/>
        </p:spPr>
        <p:txBody>
          <a:bodyPr wrap="square">
            <a:spAutoFit/>
          </a:bodyPr>
          <a:lstStyle/>
          <a:p>
            <a:pPr algn="l"/>
            <a:r>
              <a:rPr sz="1200" b="0" i="0">
                <a:solidFill>
                  <a:srgbClr val="CCD6E8"/>
                </a:solidFill>
              </a:rPr>
              <a:t>Blade compila  estadisticas.blade.php  con los datos → genera el HTML final</a:t>
            </a:r>
          </a:p>
        </p:txBody>
      </p:sp>
      <p:sp>
        <p:nvSpPr>
          <p:cNvPr id="30" name="Rectangle 29"/>
          <p:cNvSpPr/>
          <p:nvPr/>
        </p:nvSpPr>
        <p:spPr>
          <a:xfrm>
            <a:off x="457200" y="4279392"/>
            <a:ext cx="411480" cy="384048"/>
          </a:xfrm>
          <a:prstGeom prst="rect">
            <a:avLst/>
          </a:prstGeom>
          <a:solidFill>
            <a:srgbClr val="2A5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4306824"/>
            <a:ext cx="411480" cy="347472"/>
          </a:xfrm>
          <a:prstGeom prst="rect">
            <a:avLst/>
          </a:prstGeom>
          <a:noFill/>
        </p:spPr>
        <p:txBody>
          <a:bodyPr wrap="square">
            <a:spAutoFit/>
          </a:bodyPr>
          <a:lstStyle/>
          <a:p>
            <a:pPr algn="ctr"/>
            <a:r>
              <a:rPr sz="1300" b="1" i="0">
                <a:solidFill>
                  <a:srgbClr val="FFFFFF"/>
                </a:solidFill>
              </a:rPr>
              <a:t>7</a:t>
            </a:r>
          </a:p>
        </p:txBody>
      </p:sp>
      <p:sp>
        <p:nvSpPr>
          <p:cNvPr id="32" name="Rectangle 31"/>
          <p:cNvSpPr/>
          <p:nvPr/>
        </p:nvSpPr>
        <p:spPr>
          <a:xfrm>
            <a:off x="960120" y="4279392"/>
            <a:ext cx="10744200" cy="384048"/>
          </a:xfrm>
          <a:prstGeom prst="rect">
            <a:avLst/>
          </a:prstGeom>
          <a:solidFill>
            <a:srgbClr val="0E1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51560" y="4325112"/>
            <a:ext cx="10561320" cy="320040"/>
          </a:xfrm>
          <a:prstGeom prst="rect">
            <a:avLst/>
          </a:prstGeom>
          <a:noFill/>
        </p:spPr>
        <p:txBody>
          <a:bodyPr wrap="square">
            <a:spAutoFit/>
          </a:bodyPr>
          <a:lstStyle/>
          <a:p>
            <a:pPr algn="l"/>
            <a:r>
              <a:rPr sz="1200" b="0" i="0">
                <a:solidFill>
                  <a:srgbClr val="CCD6E8"/>
                </a:solidFill>
              </a:rPr>
              <a:t>El navegador renderiza la página y lanza peticiones AJAX para cargar los gráficos de Chart.js</a:t>
            </a:r>
          </a:p>
        </p:txBody>
      </p:sp>
      <p:sp>
        <p:nvSpPr>
          <p:cNvPr id="34" name="Rectangle 33"/>
          <p:cNvSpPr/>
          <p:nvPr/>
        </p:nvSpPr>
        <p:spPr>
          <a:xfrm>
            <a:off x="457200" y="5120640"/>
            <a:ext cx="2651760" cy="1280160"/>
          </a:xfrm>
          <a:prstGeom prst="rect">
            <a:avLst/>
          </a:prstGeom>
          <a:solidFill>
            <a:srgbClr val="1225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94360" y="5193792"/>
            <a:ext cx="2377440" cy="685800"/>
          </a:xfrm>
          <a:prstGeom prst="rect">
            <a:avLst/>
          </a:prstGeom>
          <a:noFill/>
        </p:spPr>
        <p:txBody>
          <a:bodyPr wrap="square">
            <a:spAutoFit/>
          </a:bodyPr>
          <a:lstStyle/>
          <a:p>
            <a:pPr algn="l"/>
            <a:r>
              <a:rPr sz="3600" b="1" i="0">
                <a:solidFill>
                  <a:srgbClr val="FFFFFF"/>
                </a:solidFill>
              </a:rPr>
              <a:t>8</a:t>
            </a:r>
          </a:p>
        </p:txBody>
      </p:sp>
      <p:sp>
        <p:nvSpPr>
          <p:cNvPr id="36" name="TextBox 35"/>
          <p:cNvSpPr txBox="1"/>
          <p:nvPr/>
        </p:nvSpPr>
        <p:spPr>
          <a:xfrm>
            <a:off x="594360" y="5806440"/>
            <a:ext cx="2377440" cy="411480"/>
          </a:xfrm>
          <a:prstGeom prst="rect">
            <a:avLst/>
          </a:prstGeom>
          <a:noFill/>
        </p:spPr>
        <p:txBody>
          <a:bodyPr wrap="square">
            <a:spAutoFit/>
          </a:bodyPr>
          <a:lstStyle/>
          <a:p>
            <a:pPr algn="l"/>
            <a:r>
              <a:rPr sz="1100" b="0" i="0">
                <a:solidFill>
                  <a:srgbClr val="4FC3F7"/>
                </a:solidFill>
              </a:rPr>
              <a:t>tablas en la BD</a:t>
            </a:r>
          </a:p>
        </p:txBody>
      </p:sp>
      <p:sp>
        <p:nvSpPr>
          <p:cNvPr id="37" name="Rectangle 36"/>
          <p:cNvSpPr/>
          <p:nvPr/>
        </p:nvSpPr>
        <p:spPr>
          <a:xfrm>
            <a:off x="3291840" y="5120640"/>
            <a:ext cx="2651760" cy="1280160"/>
          </a:xfrm>
          <a:prstGeom prst="rect">
            <a:avLst/>
          </a:prstGeom>
          <a:solidFill>
            <a:srgbClr val="1225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429000" y="5193792"/>
            <a:ext cx="2377440" cy="685800"/>
          </a:xfrm>
          <a:prstGeom prst="rect">
            <a:avLst/>
          </a:prstGeom>
          <a:noFill/>
        </p:spPr>
        <p:txBody>
          <a:bodyPr wrap="square">
            <a:spAutoFit/>
          </a:bodyPr>
          <a:lstStyle/>
          <a:p>
            <a:pPr algn="l"/>
            <a:r>
              <a:rPr sz="3600" b="1" i="0">
                <a:solidFill>
                  <a:srgbClr val="FFFFFF"/>
                </a:solidFill>
              </a:rPr>
              <a:t>8</a:t>
            </a:r>
          </a:p>
        </p:txBody>
      </p:sp>
      <p:sp>
        <p:nvSpPr>
          <p:cNvPr id="39" name="TextBox 38"/>
          <p:cNvSpPr txBox="1"/>
          <p:nvPr/>
        </p:nvSpPr>
        <p:spPr>
          <a:xfrm>
            <a:off x="3429000" y="5806440"/>
            <a:ext cx="2377440" cy="411480"/>
          </a:xfrm>
          <a:prstGeom prst="rect">
            <a:avLst/>
          </a:prstGeom>
          <a:noFill/>
        </p:spPr>
        <p:txBody>
          <a:bodyPr wrap="square">
            <a:spAutoFit/>
          </a:bodyPr>
          <a:lstStyle/>
          <a:p>
            <a:pPr algn="l"/>
            <a:r>
              <a:rPr sz="1100" b="0" i="0">
                <a:solidFill>
                  <a:srgbClr val="4FC3F7"/>
                </a:solidFill>
              </a:rPr>
              <a:t>tests PHPUnit</a:t>
            </a:r>
          </a:p>
        </p:txBody>
      </p:sp>
      <p:sp>
        <p:nvSpPr>
          <p:cNvPr id="40" name="Rectangle 39"/>
          <p:cNvSpPr/>
          <p:nvPr/>
        </p:nvSpPr>
        <p:spPr>
          <a:xfrm>
            <a:off x="6126480" y="5120640"/>
            <a:ext cx="2651760" cy="1280160"/>
          </a:xfrm>
          <a:prstGeom prst="rect">
            <a:avLst/>
          </a:prstGeom>
          <a:solidFill>
            <a:srgbClr val="1225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263640" y="5193792"/>
            <a:ext cx="2377440" cy="685800"/>
          </a:xfrm>
          <a:prstGeom prst="rect">
            <a:avLst/>
          </a:prstGeom>
          <a:noFill/>
        </p:spPr>
        <p:txBody>
          <a:bodyPr wrap="square">
            <a:spAutoFit/>
          </a:bodyPr>
          <a:lstStyle/>
          <a:p>
            <a:pPr algn="l"/>
            <a:r>
              <a:rPr sz="3600" b="1" i="0">
                <a:solidFill>
                  <a:srgbClr val="FFFFFF"/>
                </a:solidFill>
              </a:rPr>
              <a:t>3</a:t>
            </a:r>
          </a:p>
        </p:txBody>
      </p:sp>
      <p:sp>
        <p:nvSpPr>
          <p:cNvPr id="42" name="TextBox 41"/>
          <p:cNvSpPr txBox="1"/>
          <p:nvPr/>
        </p:nvSpPr>
        <p:spPr>
          <a:xfrm>
            <a:off x="6263640" y="5806440"/>
            <a:ext cx="2377440" cy="411480"/>
          </a:xfrm>
          <a:prstGeom prst="rect">
            <a:avLst/>
          </a:prstGeom>
          <a:noFill/>
        </p:spPr>
        <p:txBody>
          <a:bodyPr wrap="square">
            <a:spAutoFit/>
          </a:bodyPr>
          <a:lstStyle/>
          <a:p>
            <a:pPr algn="l"/>
            <a:r>
              <a:rPr sz="1100" b="0" i="0">
                <a:solidFill>
                  <a:srgbClr val="4FC3F7"/>
                </a:solidFill>
              </a:rPr>
              <a:t>contenedores Docker</a:t>
            </a:r>
          </a:p>
        </p:txBody>
      </p:sp>
      <p:sp>
        <p:nvSpPr>
          <p:cNvPr id="43" name="Rectangle 42"/>
          <p:cNvSpPr/>
          <p:nvPr/>
        </p:nvSpPr>
        <p:spPr>
          <a:xfrm>
            <a:off x="8961120" y="5120640"/>
            <a:ext cx="2651760" cy="1280160"/>
          </a:xfrm>
          <a:prstGeom prst="rect">
            <a:avLst/>
          </a:prstGeom>
          <a:solidFill>
            <a:srgbClr val="1225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98280" y="5193792"/>
            <a:ext cx="2377440" cy="685800"/>
          </a:xfrm>
          <a:prstGeom prst="rect">
            <a:avLst/>
          </a:prstGeom>
          <a:noFill/>
        </p:spPr>
        <p:txBody>
          <a:bodyPr wrap="square">
            <a:spAutoFit/>
          </a:bodyPr>
          <a:lstStyle/>
          <a:p>
            <a:pPr algn="l"/>
            <a:r>
              <a:rPr sz="3600" b="1" i="0">
                <a:solidFill>
                  <a:srgbClr val="FFFFFF"/>
                </a:solidFill>
              </a:rPr>
              <a:t>19</a:t>
            </a:r>
          </a:p>
        </p:txBody>
      </p:sp>
      <p:sp>
        <p:nvSpPr>
          <p:cNvPr id="45" name="TextBox 44"/>
          <p:cNvSpPr txBox="1"/>
          <p:nvPr/>
        </p:nvSpPr>
        <p:spPr>
          <a:xfrm>
            <a:off x="9098280" y="5806440"/>
            <a:ext cx="2377440" cy="411480"/>
          </a:xfrm>
          <a:prstGeom prst="rect">
            <a:avLst/>
          </a:prstGeom>
          <a:noFill/>
        </p:spPr>
        <p:txBody>
          <a:bodyPr wrap="square">
            <a:spAutoFit/>
          </a:bodyPr>
          <a:lstStyle/>
          <a:p>
            <a:pPr algn="l"/>
            <a:r>
              <a:rPr sz="1100" b="0" i="0">
                <a:solidFill>
                  <a:srgbClr val="4FC3F7"/>
                </a:solidFill>
              </a:rPr>
              <a:t>migraciones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54864" cy="6858000"/>
          </a:xfrm>
          <a:prstGeom prst="rect">
            <a:avLst/>
          </a:prstGeom>
          <a:solidFill>
            <a:srgbClr val="2A5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7315200" cy="274320"/>
          </a:xfrm>
          <a:prstGeom prst="rect">
            <a:avLst/>
          </a:prstGeom>
          <a:noFill/>
        </p:spPr>
        <p:txBody>
          <a:bodyPr wrap="square">
            <a:spAutoFit/>
          </a:bodyPr>
          <a:lstStyle/>
          <a:p>
            <a:pPr algn="l"/>
            <a:r>
              <a:rPr sz="1000" b="0" i="0">
                <a:solidFill>
                  <a:srgbClr val="4FC3F7"/>
                </a:solidFill>
              </a:rPr>
              <a:t>05 — DIFICULTADES</a:t>
            </a:r>
          </a:p>
        </p:txBody>
      </p:sp>
      <p:sp>
        <p:nvSpPr>
          <p:cNvPr id="4" name="TextBox 3"/>
          <p:cNvSpPr txBox="1"/>
          <p:nvPr/>
        </p:nvSpPr>
        <p:spPr>
          <a:xfrm>
            <a:off x="457200" y="594360"/>
            <a:ext cx="9144000" cy="594360"/>
          </a:xfrm>
          <a:prstGeom prst="rect">
            <a:avLst/>
          </a:prstGeom>
          <a:noFill/>
        </p:spPr>
        <p:txBody>
          <a:bodyPr wrap="square">
            <a:spAutoFit/>
          </a:bodyPr>
          <a:lstStyle/>
          <a:p>
            <a:pPr algn="l"/>
            <a:r>
              <a:rPr sz="2800" b="1" i="0">
                <a:solidFill>
                  <a:srgbClr val="FFFFFF"/>
                </a:solidFill>
              </a:rPr>
              <a:t>Problemas durante el desarrollo</a:t>
            </a:r>
          </a:p>
        </p:txBody>
      </p:sp>
      <p:sp>
        <p:nvSpPr>
          <p:cNvPr id="5" name="Rectangle 4"/>
          <p:cNvSpPr/>
          <p:nvPr/>
        </p:nvSpPr>
        <p:spPr>
          <a:xfrm>
            <a:off x="457200" y="1188720"/>
            <a:ext cx="2286000" cy="36576"/>
          </a:xfrm>
          <a:prstGeom prst="rect">
            <a:avLst/>
          </a:prstGeom>
          <a:solidFill>
            <a:srgbClr val="2A5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371600"/>
            <a:ext cx="54864" cy="246888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371600"/>
            <a:ext cx="10515600" cy="274320"/>
          </a:xfrm>
          <a:prstGeom prst="rect">
            <a:avLst/>
          </a:prstGeom>
          <a:noFill/>
        </p:spPr>
        <p:txBody>
          <a:bodyPr wrap="square">
            <a:spAutoFit/>
          </a:bodyPr>
          <a:lstStyle/>
          <a:p>
            <a:pPr algn="l"/>
            <a:r>
              <a:rPr sz="900" b="1" i="0">
                <a:solidFill>
                  <a:srgbClr val="4FC3F7"/>
                </a:solidFill>
              </a:rPr>
              <a:t>PROBLEMA 01</a:t>
            </a:r>
          </a:p>
        </p:txBody>
      </p:sp>
      <p:sp>
        <p:nvSpPr>
          <p:cNvPr id="8" name="TextBox 7"/>
          <p:cNvSpPr txBox="1"/>
          <p:nvPr/>
        </p:nvSpPr>
        <p:spPr>
          <a:xfrm>
            <a:off x="640080" y="1645920"/>
            <a:ext cx="10515600" cy="411480"/>
          </a:xfrm>
          <a:prstGeom prst="rect">
            <a:avLst/>
          </a:prstGeom>
          <a:noFill/>
        </p:spPr>
        <p:txBody>
          <a:bodyPr wrap="square">
            <a:spAutoFit/>
          </a:bodyPr>
          <a:lstStyle/>
          <a:p>
            <a:pPr algn="l"/>
            <a:r>
              <a:rPr sz="1800" b="1" i="0">
                <a:solidFill>
                  <a:srgbClr val="FFFFFF"/>
                </a:solidFill>
              </a:rPr>
              <a:t>Empezar con PHP puro (sin framework)</a:t>
            </a:r>
          </a:p>
        </p:txBody>
      </p:sp>
      <p:sp>
        <p:nvSpPr>
          <p:cNvPr id="9" name="TextBox 8"/>
          <p:cNvSpPr txBox="1"/>
          <p:nvPr/>
        </p:nvSpPr>
        <p:spPr>
          <a:xfrm>
            <a:off x="640080" y="2057400"/>
            <a:ext cx="10515600" cy="347472"/>
          </a:xfrm>
          <a:prstGeom prst="rect">
            <a:avLst/>
          </a:prstGeom>
          <a:noFill/>
        </p:spPr>
        <p:txBody>
          <a:bodyPr wrap="square">
            <a:spAutoFit/>
          </a:bodyPr>
          <a:lstStyle/>
          <a:p>
            <a:pPr algn="l"/>
            <a:r>
              <a:rPr sz="1300" b="0" i="0">
                <a:solidFill>
                  <a:srgbClr val="CCD6E8"/>
                </a:solidFill>
              </a:rPr>
              <a:t>→  Cada página mezclaba SQL, validaciones, HTML y CSS en el mismo archivo.</a:t>
            </a:r>
          </a:p>
        </p:txBody>
      </p:sp>
      <p:sp>
        <p:nvSpPr>
          <p:cNvPr id="10" name="TextBox 9"/>
          <p:cNvSpPr txBox="1"/>
          <p:nvPr/>
        </p:nvSpPr>
        <p:spPr>
          <a:xfrm>
            <a:off x="640080" y="2441448"/>
            <a:ext cx="10515600" cy="347472"/>
          </a:xfrm>
          <a:prstGeom prst="rect">
            <a:avLst/>
          </a:prstGeom>
          <a:noFill/>
        </p:spPr>
        <p:txBody>
          <a:bodyPr wrap="square">
            <a:spAutoFit/>
          </a:bodyPr>
          <a:lstStyle/>
          <a:p>
            <a:pPr algn="l"/>
            <a:r>
              <a:rPr sz="1300" b="0" i="0">
                <a:solidFill>
                  <a:srgbClr val="CCD6E8"/>
                </a:solidFill>
              </a:rPr>
              <a:t>→  El login, las sesiones y la protección contra SQL injection: todo desde cero.</a:t>
            </a:r>
          </a:p>
        </p:txBody>
      </p:sp>
      <p:sp>
        <p:nvSpPr>
          <p:cNvPr id="11" name="TextBox 10"/>
          <p:cNvSpPr txBox="1"/>
          <p:nvPr/>
        </p:nvSpPr>
        <p:spPr>
          <a:xfrm>
            <a:off x="640080" y="2825496"/>
            <a:ext cx="10515600" cy="347472"/>
          </a:xfrm>
          <a:prstGeom prst="rect">
            <a:avLst/>
          </a:prstGeom>
          <a:noFill/>
        </p:spPr>
        <p:txBody>
          <a:bodyPr wrap="square">
            <a:spAutoFit/>
          </a:bodyPr>
          <a:lstStyle/>
          <a:p>
            <a:pPr algn="l"/>
            <a:r>
              <a:rPr sz="1300" b="0" i="0">
                <a:solidFill>
                  <a:srgbClr val="CCD6E8"/>
                </a:solidFill>
              </a:rPr>
              <a:t>→  Añadir funcionalidades implicaba copiar y pegar código entre páginas.</a:t>
            </a:r>
          </a:p>
        </p:txBody>
      </p:sp>
      <p:sp>
        <p:nvSpPr>
          <p:cNvPr id="12" name="TextBox 11"/>
          <p:cNvSpPr txBox="1"/>
          <p:nvPr/>
        </p:nvSpPr>
        <p:spPr>
          <a:xfrm>
            <a:off x="640080" y="3209544"/>
            <a:ext cx="10515600" cy="347472"/>
          </a:xfrm>
          <a:prstGeom prst="rect">
            <a:avLst/>
          </a:prstGeom>
          <a:noFill/>
        </p:spPr>
        <p:txBody>
          <a:bodyPr wrap="square">
            <a:spAutoFit/>
          </a:bodyPr>
          <a:lstStyle/>
          <a:p>
            <a:pPr algn="l"/>
            <a:r>
              <a:rPr sz="1300" b="0" i="0">
                <a:solidFill>
                  <a:srgbClr val="CCD6E8"/>
                </a:solidFill>
              </a:rPr>
              <a:t>→  El código creció hasta ser imposible de mantener o ampliar.</a:t>
            </a:r>
          </a:p>
        </p:txBody>
      </p:sp>
      <p:sp>
        <p:nvSpPr>
          <p:cNvPr id="13" name="Rectangle 12"/>
          <p:cNvSpPr/>
          <p:nvPr/>
        </p:nvSpPr>
        <p:spPr>
          <a:xfrm>
            <a:off x="640080" y="3593591"/>
            <a:ext cx="10515600" cy="365760"/>
          </a:xfrm>
          <a:prstGeom prst="rect">
            <a:avLst/>
          </a:prstGeom>
          <a:solidFill>
            <a:srgbClr val="0E1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3648456"/>
            <a:ext cx="10332720" cy="274320"/>
          </a:xfrm>
          <a:prstGeom prst="rect">
            <a:avLst/>
          </a:prstGeom>
          <a:noFill/>
        </p:spPr>
        <p:txBody>
          <a:bodyPr wrap="square">
            <a:spAutoFit/>
          </a:bodyPr>
          <a:lstStyle/>
          <a:p>
            <a:pPr algn="l"/>
            <a:r>
              <a:rPr sz="1200" b="0" i="1">
                <a:solidFill>
                  <a:srgbClr val="8090AA"/>
                </a:solidFill>
              </a:rPr>
              <a:t>Resultado: fue más eficiente reescribir la aplicación entera que seguir sobre esa base.</a:t>
            </a:r>
          </a:p>
        </p:txBody>
      </p:sp>
      <p:sp>
        <p:nvSpPr>
          <p:cNvPr id="15" name="Rectangle 14"/>
          <p:cNvSpPr/>
          <p:nvPr/>
        </p:nvSpPr>
        <p:spPr>
          <a:xfrm>
            <a:off x="457200" y="3977639"/>
            <a:ext cx="54864" cy="246888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977639"/>
            <a:ext cx="10515600" cy="274320"/>
          </a:xfrm>
          <a:prstGeom prst="rect">
            <a:avLst/>
          </a:prstGeom>
          <a:noFill/>
        </p:spPr>
        <p:txBody>
          <a:bodyPr wrap="square">
            <a:spAutoFit/>
          </a:bodyPr>
          <a:lstStyle/>
          <a:p>
            <a:pPr algn="l"/>
            <a:r>
              <a:rPr sz="900" b="1" i="0">
                <a:solidFill>
                  <a:srgbClr val="4FC3F7"/>
                </a:solidFill>
              </a:rPr>
              <a:t>PROBLEMA 02</a:t>
            </a:r>
          </a:p>
        </p:txBody>
      </p:sp>
      <p:sp>
        <p:nvSpPr>
          <p:cNvPr id="17" name="TextBox 16"/>
          <p:cNvSpPr txBox="1"/>
          <p:nvPr/>
        </p:nvSpPr>
        <p:spPr>
          <a:xfrm>
            <a:off x="640080" y="4251960"/>
            <a:ext cx="10515600" cy="411480"/>
          </a:xfrm>
          <a:prstGeom prst="rect">
            <a:avLst/>
          </a:prstGeom>
          <a:noFill/>
        </p:spPr>
        <p:txBody>
          <a:bodyPr wrap="square">
            <a:spAutoFit/>
          </a:bodyPr>
          <a:lstStyle/>
          <a:p>
            <a:pPr algn="l"/>
            <a:r>
              <a:rPr sz="1800" b="1" i="0">
                <a:solidFill>
                  <a:srgbClr val="FFFFFF"/>
                </a:solidFill>
              </a:rPr>
              <a:t>La migración a Laravel</a:t>
            </a:r>
          </a:p>
        </p:txBody>
      </p:sp>
      <p:sp>
        <p:nvSpPr>
          <p:cNvPr id="18" name="TextBox 17"/>
          <p:cNvSpPr txBox="1"/>
          <p:nvPr/>
        </p:nvSpPr>
        <p:spPr>
          <a:xfrm>
            <a:off x="640080" y="4663440"/>
            <a:ext cx="10515600" cy="347472"/>
          </a:xfrm>
          <a:prstGeom prst="rect">
            <a:avLst/>
          </a:prstGeom>
          <a:noFill/>
        </p:spPr>
        <p:txBody>
          <a:bodyPr wrap="square">
            <a:spAutoFit/>
          </a:bodyPr>
          <a:lstStyle/>
          <a:p>
            <a:pPr algn="l"/>
            <a:r>
              <a:rPr sz="1300" b="0" i="0">
                <a:solidFill>
                  <a:srgbClr val="CCD6E8"/>
                </a:solidFill>
              </a:rPr>
              <a:t>→  Migraciones: la estructura de la BD pasa a archivos PHP versionados con Git.</a:t>
            </a:r>
          </a:p>
        </p:txBody>
      </p:sp>
      <p:sp>
        <p:nvSpPr>
          <p:cNvPr id="19" name="TextBox 18"/>
          <p:cNvSpPr txBox="1"/>
          <p:nvPr/>
        </p:nvSpPr>
        <p:spPr>
          <a:xfrm>
            <a:off x="640080" y="5047488"/>
            <a:ext cx="10515600" cy="347472"/>
          </a:xfrm>
          <a:prstGeom prst="rect">
            <a:avLst/>
          </a:prstGeom>
          <a:noFill/>
        </p:spPr>
        <p:txBody>
          <a:bodyPr wrap="square">
            <a:spAutoFit/>
          </a:bodyPr>
          <a:lstStyle/>
          <a:p>
            <a:pPr algn="l"/>
            <a:r>
              <a:rPr sz="1300" b="0" i="0">
                <a:solidFill>
                  <a:srgbClr val="CCD6E8"/>
                </a:solidFill>
              </a:rPr>
              <a:t>→  Consultas SQL reescritas como llamadas Eloquent ORM.</a:t>
            </a:r>
          </a:p>
        </p:txBody>
      </p:sp>
      <p:sp>
        <p:nvSpPr>
          <p:cNvPr id="20" name="TextBox 19"/>
          <p:cNvSpPr txBox="1"/>
          <p:nvPr/>
        </p:nvSpPr>
        <p:spPr>
          <a:xfrm>
            <a:off x="640080" y="5431536"/>
            <a:ext cx="10515600" cy="347472"/>
          </a:xfrm>
          <a:prstGeom prst="rect">
            <a:avLst/>
          </a:prstGeom>
          <a:noFill/>
        </p:spPr>
        <p:txBody>
          <a:bodyPr wrap="square">
            <a:spAutoFit/>
          </a:bodyPr>
          <a:lstStyle/>
          <a:p>
            <a:pPr algn="l"/>
            <a:r>
              <a:rPr sz="1300" b="0" i="0">
                <a:solidFill>
                  <a:srgbClr val="CCD6E8"/>
                </a:solidFill>
              </a:rPr>
              <a:t>→  Las páginas se reorganizan en controladores y vistas Blade separadas.</a:t>
            </a:r>
          </a:p>
        </p:txBody>
      </p:sp>
      <p:sp>
        <p:nvSpPr>
          <p:cNvPr id="21" name="TextBox 20"/>
          <p:cNvSpPr txBox="1"/>
          <p:nvPr/>
        </p:nvSpPr>
        <p:spPr>
          <a:xfrm>
            <a:off x="640080" y="5815583"/>
            <a:ext cx="10515600" cy="347472"/>
          </a:xfrm>
          <a:prstGeom prst="rect">
            <a:avLst/>
          </a:prstGeom>
          <a:noFill/>
        </p:spPr>
        <p:txBody>
          <a:bodyPr wrap="square">
            <a:spAutoFit/>
          </a:bodyPr>
          <a:lstStyle/>
          <a:p>
            <a:pPr algn="l"/>
            <a:r>
              <a:rPr sz="1300" b="0" i="0">
                <a:solidFill>
                  <a:srgbClr val="CCD6E8"/>
                </a:solidFill>
              </a:rPr>
              <a:t>→  Login, validación y sesiones: gestionados por Laravel de forma segura por defecto.</a:t>
            </a:r>
          </a:p>
        </p:txBody>
      </p:sp>
      <p:sp>
        <p:nvSpPr>
          <p:cNvPr id="22" name="Rectangle 21"/>
          <p:cNvSpPr/>
          <p:nvPr/>
        </p:nvSpPr>
        <p:spPr>
          <a:xfrm>
            <a:off x="640080" y="6199631"/>
            <a:ext cx="10515600" cy="365760"/>
          </a:xfrm>
          <a:prstGeom prst="rect">
            <a:avLst/>
          </a:prstGeom>
          <a:solidFill>
            <a:srgbClr val="1225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6254495"/>
            <a:ext cx="10332720" cy="274320"/>
          </a:xfrm>
          <a:prstGeom prst="rect">
            <a:avLst/>
          </a:prstGeom>
          <a:noFill/>
        </p:spPr>
        <p:txBody>
          <a:bodyPr wrap="square">
            <a:spAutoFit/>
          </a:bodyPr>
          <a:lstStyle/>
          <a:p>
            <a:pPr algn="l"/>
            <a:r>
              <a:rPr sz="1200" b="0" i="1">
                <a:solidFill>
                  <a:srgbClr val="4FC3F7"/>
                </a:solidFill>
              </a:rPr>
              <a:t>Resultado: base sólida, código limpio y mantenible. La inversión de tiempo mereció la pena.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2A5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7315200" cy="274320"/>
          </a:xfrm>
          <a:prstGeom prst="rect">
            <a:avLst/>
          </a:prstGeom>
          <a:noFill/>
        </p:spPr>
        <p:txBody>
          <a:bodyPr wrap="square">
            <a:spAutoFit/>
          </a:bodyPr>
          <a:lstStyle/>
          <a:p>
            <a:pPr algn="l"/>
            <a:r>
              <a:rPr sz="1000" b="0" i="0">
                <a:solidFill>
                  <a:srgbClr val="4FC3F7"/>
                </a:solidFill>
              </a:rPr>
              <a:t>05 — DIFICULTADES · DOCKER</a:t>
            </a:r>
          </a:p>
        </p:txBody>
      </p:sp>
      <p:sp>
        <p:nvSpPr>
          <p:cNvPr id="4" name="TextBox 3"/>
          <p:cNvSpPr txBox="1"/>
          <p:nvPr/>
        </p:nvSpPr>
        <p:spPr>
          <a:xfrm>
            <a:off x="457200" y="594360"/>
            <a:ext cx="10972800" cy="640080"/>
          </a:xfrm>
          <a:prstGeom prst="rect">
            <a:avLst/>
          </a:prstGeom>
          <a:noFill/>
        </p:spPr>
        <p:txBody>
          <a:bodyPr wrap="square">
            <a:spAutoFit/>
          </a:bodyPr>
          <a:lstStyle/>
          <a:p>
            <a:pPr algn="l"/>
            <a:r>
              <a:rPr sz="2800" b="1" i="0">
                <a:solidFill>
                  <a:srgbClr val="FFFFFF"/>
                </a:solidFill>
              </a:rPr>
              <a:t>De </a:t>
            </a:r>
          </a:p>
        </p:txBody>
      </p:sp>
      <p:sp>
        <p:nvSpPr>
          <p:cNvPr id="5" name="TextBox 4"/>
          <p:cNvSpPr txBox="1"/>
          <p:nvPr/>
        </p:nvSpPr>
        <p:spPr>
          <a:xfrm>
            <a:off x="457200" y="594360"/>
            <a:ext cx="10972800" cy="594360"/>
          </a:xfrm>
          <a:prstGeom prst="rect">
            <a:avLst/>
          </a:prstGeom>
          <a:noFill/>
        </p:spPr>
        <p:txBody>
          <a:bodyPr wrap="square">
            <a:spAutoFit/>
          </a:bodyPr>
          <a:lstStyle/>
          <a:p>
            <a:pPr algn="l"/>
            <a:r>
              <a:rPr sz="2800" b="1" i="0">
                <a:solidFill>
                  <a:srgbClr val="FFFFFF"/>
                </a:solidFill>
              </a:rPr>
              <a:t>De  18 segundos por clic  →  menos de 200ms</a:t>
            </a:r>
          </a:p>
        </p:txBody>
      </p:sp>
      <p:sp>
        <p:nvSpPr>
          <p:cNvPr id="6" name="Rectangle 5"/>
          <p:cNvSpPr/>
          <p:nvPr/>
        </p:nvSpPr>
        <p:spPr>
          <a:xfrm>
            <a:off x="457200" y="1188720"/>
            <a:ext cx="2286000" cy="36576"/>
          </a:xfrm>
          <a:prstGeom prst="rect">
            <a:avLst/>
          </a:prstGeom>
          <a:solidFill>
            <a:srgbClr val="2A5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325880"/>
            <a:ext cx="11247120" cy="502920"/>
          </a:xfrm>
          <a:prstGeom prst="rect">
            <a:avLst/>
          </a:prstGeom>
          <a:noFill/>
        </p:spPr>
        <p:txBody>
          <a:bodyPr wrap="square">
            <a:spAutoFit/>
          </a:bodyPr>
          <a:lstStyle/>
          <a:p>
            <a:pPr algn="l"/>
            <a:r>
              <a:rPr sz="1300" b="0" i="0">
                <a:solidFill>
                  <a:srgbClr val="CCD6E8"/>
                </a:solidFill>
              </a:rPr>
              <a:t>Al desplegar en Docker en Windows, cada página tardaba entre 10 y 18 segundos.
No era un solo problema: eran cinco problemas apilados.</a:t>
            </a:r>
          </a:p>
        </p:txBody>
      </p:sp>
      <p:graphicFrame>
        <p:nvGraphicFramePr>
          <p:cNvPr id="8" name="Table 7"/>
          <p:cNvGraphicFramePr>
            <a:graphicFrameLocks noGrp="1"/>
          </p:cNvGraphicFramePr>
          <p:nvPr/>
        </p:nvGraphicFramePr>
        <p:xfrm>
          <a:off x="457200" y="1920240"/>
          <a:ext cx="5303520" cy="2926080"/>
        </p:xfrm>
        <a:graphic>
          <a:graphicData uri="http://schemas.openxmlformats.org/drawingml/2006/table">
            <a:tbl>
              <a:tblPr firstRow="1" bandRow="1">
                <a:tableStyleId>{5C22544A-7EE6-4342-B048-85BDC9FD1C3A}</a:tableStyleId>
              </a:tblPr>
              <a:tblGrid>
                <a:gridCol w="2651760"/>
                <a:gridCol w="2651760"/>
              </a:tblGrid>
              <a:tr h="418011">
                <a:tc>
                  <a:txBody>
                    <a:bodyPr/>
                    <a:lstStyle/>
                    <a:p>
                      <a:r>
                        <a:rPr b="1" sz="1300">
                          <a:solidFill>
                            <a:srgbClr val="4FC3F7"/>
                          </a:solidFill>
                        </a:rPr>
                        <a:t>Causa</a:t>
                      </a:r>
                    </a:p>
                  </a:txBody>
                  <a:tcPr>
                    <a:solidFill>
                      <a:srgbClr val="2A5199"/>
                    </a:solidFill>
                  </a:tcPr>
                </a:tc>
                <a:tc>
                  <a:txBody>
                    <a:bodyPr/>
                    <a:lstStyle/>
                    <a:p>
                      <a:r>
                        <a:rPr b="1" sz="1300">
                          <a:solidFill>
                            <a:srgbClr val="4FC3F7"/>
                          </a:solidFill>
                        </a:rPr>
                        <a:t>Tiempo perdido</a:t>
                      </a:r>
                    </a:p>
                  </a:txBody>
                  <a:tcPr>
                    <a:solidFill>
                      <a:srgbClr val="2A5199"/>
                    </a:solidFill>
                  </a:tcPr>
                </a:tc>
              </a:tr>
              <a:tr h="418011">
                <a:tc>
                  <a:txBody>
                    <a:bodyPr/>
                    <a:lstStyle/>
                    <a:p>
                      <a:r>
                        <a:rPr sz="1300" b="0">
                          <a:solidFill>
                            <a:srgbClr val="CCD6E8"/>
                          </a:solidFill>
                        </a:rPr>
                        <a:t>Volume mount de Windows (WSL2)</a:t>
                      </a:r>
                    </a:p>
                  </a:txBody>
                  <a:tcPr>
                    <a:solidFill>
                      <a:srgbClr val="121E38"/>
                    </a:solidFill>
                  </a:tcPr>
                </a:tc>
                <a:tc>
                  <a:txBody>
                    <a:bodyPr/>
                    <a:lstStyle/>
                    <a:p>
                      <a:r>
                        <a:rPr sz="1300" b="0">
                          <a:solidFill>
                            <a:srgbClr val="CCD6E8"/>
                          </a:solidFill>
                        </a:rPr>
                        <a:t>7 – 9 s</a:t>
                      </a:r>
                    </a:p>
                  </a:txBody>
                  <a:tcPr>
                    <a:solidFill>
                      <a:srgbClr val="121E38"/>
                    </a:solidFill>
                  </a:tcPr>
                </a:tc>
              </a:tr>
              <a:tr h="418011">
                <a:tc>
                  <a:txBody>
                    <a:bodyPr/>
                    <a:lstStyle/>
                    <a:p>
                      <a:r>
                        <a:rPr sz="1300" b="0">
                          <a:solidFill>
                            <a:srgbClr val="CCD6E8"/>
                          </a:solidFill>
                        </a:rPr>
                        <a:t>Sin OPcache activado</a:t>
                      </a:r>
                    </a:p>
                  </a:txBody>
                  <a:tcPr>
                    <a:solidFill>
                      <a:srgbClr val="0E1830"/>
                    </a:solidFill>
                  </a:tcPr>
                </a:tc>
                <a:tc>
                  <a:txBody>
                    <a:bodyPr/>
                    <a:lstStyle/>
                    <a:p>
                      <a:r>
                        <a:rPr sz="1300" b="0">
                          <a:solidFill>
                            <a:srgbClr val="CCD6E8"/>
                          </a:solidFill>
                        </a:rPr>
                        <a:t>2 – 3 s</a:t>
                      </a:r>
                    </a:p>
                  </a:txBody>
                  <a:tcPr>
                    <a:solidFill>
                      <a:srgbClr val="0E1830"/>
                    </a:solidFill>
                  </a:tcPr>
                </a:tc>
              </a:tr>
              <a:tr h="418011">
                <a:tc>
                  <a:txBody>
                    <a:bodyPr/>
                    <a:lstStyle/>
                    <a:p>
                      <a:r>
                        <a:rPr sz="1300" b="0">
                          <a:solidFill>
                            <a:srgbClr val="CCD6E8"/>
                          </a:solidFill>
                        </a:rPr>
                        <a:t>Modo debug activo (APP_DEBUG=true)</a:t>
                      </a:r>
                    </a:p>
                  </a:txBody>
                  <a:tcPr>
                    <a:solidFill>
                      <a:srgbClr val="121E38"/>
                    </a:solidFill>
                  </a:tcPr>
                </a:tc>
                <a:tc>
                  <a:txBody>
                    <a:bodyPr/>
                    <a:lstStyle/>
                    <a:p>
                      <a:r>
                        <a:rPr sz="1300" b="0">
                          <a:solidFill>
                            <a:srgbClr val="CCD6E8"/>
                          </a:solidFill>
                        </a:rPr>
                        <a:t>1 – 2 s</a:t>
                      </a:r>
                    </a:p>
                  </a:txBody>
                  <a:tcPr>
                    <a:solidFill>
                      <a:srgbClr val="121E38"/>
                    </a:solidFill>
                  </a:tcPr>
                </a:tc>
              </a:tr>
              <a:tr h="418011">
                <a:tc>
                  <a:txBody>
                    <a:bodyPr/>
                    <a:lstStyle/>
                    <a:p>
                      <a:r>
                        <a:rPr sz="1300" b="0">
                          <a:solidFill>
                            <a:srgbClr val="CCD6E8"/>
                          </a:solidFill>
                        </a:rPr>
                        <a:t>Sin caches de Laravel generados</a:t>
                      </a:r>
                    </a:p>
                  </a:txBody>
                  <a:tcPr>
                    <a:solidFill>
                      <a:srgbClr val="0E1830"/>
                    </a:solidFill>
                  </a:tcPr>
                </a:tc>
                <a:tc>
                  <a:txBody>
                    <a:bodyPr/>
                    <a:lstStyle/>
                    <a:p>
                      <a:r>
                        <a:rPr sz="1300" b="0">
                          <a:solidFill>
                            <a:srgbClr val="CCD6E8"/>
                          </a:solidFill>
                        </a:rPr>
                        <a:t>0.5 s</a:t>
                      </a:r>
                    </a:p>
                  </a:txBody>
                  <a:tcPr>
                    <a:solidFill>
                      <a:srgbClr val="0E1830"/>
                    </a:solidFill>
                  </a:tcPr>
                </a:tc>
              </a:tr>
              <a:tr h="418011">
                <a:tc>
                  <a:txBody>
                    <a:bodyPr/>
                    <a:lstStyle/>
                    <a:p>
                      <a:r>
                        <a:rPr sz="1300" b="0">
                          <a:solidFill>
                            <a:srgbClr val="CCD6E8"/>
                          </a:solidFill>
                        </a:rPr>
                        <a:t>Assets cargados desde CDN externo</a:t>
                      </a:r>
                    </a:p>
                  </a:txBody>
                  <a:tcPr>
                    <a:solidFill>
                      <a:srgbClr val="121E38"/>
                    </a:solidFill>
                  </a:tcPr>
                </a:tc>
                <a:tc>
                  <a:txBody>
                    <a:bodyPr/>
                    <a:lstStyle/>
                    <a:p>
                      <a:r>
                        <a:rPr sz="1300" b="0">
                          <a:solidFill>
                            <a:srgbClr val="CCD6E8"/>
                          </a:solidFill>
                        </a:rPr>
                        <a:t>1 – 3 s</a:t>
                      </a:r>
                    </a:p>
                  </a:txBody>
                  <a:tcPr>
                    <a:solidFill>
                      <a:srgbClr val="121E38"/>
                    </a:solidFill>
                  </a:tcPr>
                </a:tc>
              </a:tr>
              <a:tr h="418014">
                <a:tc>
                  <a:txBody>
                    <a:bodyPr/>
                    <a:lstStyle/>
                    <a:p>
                      <a:r>
                        <a:rPr sz="1300" b="1">
                          <a:solidFill>
                            <a:srgbClr val="FFFFFF"/>
                          </a:solidFill>
                        </a:rPr>
                        <a:t>TOTAL</a:t>
                      </a:r>
                    </a:p>
                  </a:txBody>
                  <a:tcPr>
                    <a:solidFill>
                      <a:srgbClr val="0E1830"/>
                    </a:solidFill>
                  </a:tcPr>
                </a:tc>
                <a:tc>
                  <a:txBody>
                    <a:bodyPr/>
                    <a:lstStyle/>
                    <a:p>
                      <a:r>
                        <a:rPr sz="1300" b="1">
                          <a:solidFill>
                            <a:srgbClr val="FFFFFF"/>
                          </a:solidFill>
                        </a:rPr>
                        <a:t>10 – 18 segundos</a:t>
                      </a:r>
                    </a:p>
                  </a:txBody>
                  <a:tcPr>
                    <a:solidFill>
                      <a:srgbClr val="0E1830"/>
                    </a:solidFill>
                  </a:tcPr>
                </a:tc>
              </a:tr>
            </a:tbl>
          </a:graphicData>
        </a:graphic>
      </p:graphicFrame>
      <p:sp>
        <p:nvSpPr>
          <p:cNvPr id="9" name="Rectangle 8"/>
          <p:cNvSpPr/>
          <p:nvPr/>
        </p:nvSpPr>
        <p:spPr>
          <a:xfrm>
            <a:off x="6035040" y="1920240"/>
            <a:ext cx="5669280" cy="1417320"/>
          </a:xfrm>
          <a:prstGeom prst="rect">
            <a:avLst/>
          </a:prstGeom>
          <a:solidFill>
            <a:srgbClr val="101E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35040" y="1920240"/>
            <a:ext cx="54864" cy="141732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0" y="1965960"/>
            <a:ext cx="5394960" cy="274320"/>
          </a:xfrm>
          <a:prstGeom prst="rect">
            <a:avLst/>
          </a:prstGeom>
          <a:noFill/>
        </p:spPr>
        <p:txBody>
          <a:bodyPr wrap="square">
            <a:spAutoFit/>
          </a:bodyPr>
          <a:lstStyle/>
          <a:p>
            <a:pPr algn="l"/>
            <a:r>
              <a:rPr sz="900" b="1" i="0">
                <a:solidFill>
                  <a:srgbClr val="4FC3F7"/>
                </a:solidFill>
              </a:rPr>
              <a:t>CAUSA PRINCIPAL</a:t>
            </a:r>
          </a:p>
        </p:txBody>
      </p:sp>
      <p:sp>
        <p:nvSpPr>
          <p:cNvPr id="12" name="TextBox 11"/>
          <p:cNvSpPr txBox="1"/>
          <p:nvPr/>
        </p:nvSpPr>
        <p:spPr>
          <a:xfrm>
            <a:off x="6217920" y="2212848"/>
            <a:ext cx="5394960" cy="347472"/>
          </a:xfrm>
          <a:prstGeom prst="rect">
            <a:avLst/>
          </a:prstGeom>
          <a:noFill/>
        </p:spPr>
        <p:txBody>
          <a:bodyPr wrap="square">
            <a:spAutoFit/>
          </a:bodyPr>
          <a:lstStyle/>
          <a:p>
            <a:pPr algn="l"/>
            <a:r>
              <a:rPr sz="1500" b="1" i="0">
                <a:solidFill>
                  <a:srgbClr val="FFFFFF"/>
                </a:solidFill>
              </a:rPr>
              <a:t>Volume mount + WSL2</a:t>
            </a:r>
          </a:p>
        </p:txBody>
      </p:sp>
      <p:sp>
        <p:nvSpPr>
          <p:cNvPr id="13" name="TextBox 12"/>
          <p:cNvSpPr txBox="1"/>
          <p:nvPr/>
        </p:nvSpPr>
        <p:spPr>
          <a:xfrm>
            <a:off x="6217920" y="2560320"/>
            <a:ext cx="5394960" cy="685800"/>
          </a:xfrm>
          <a:prstGeom prst="rect">
            <a:avLst/>
          </a:prstGeom>
          <a:noFill/>
        </p:spPr>
        <p:txBody>
          <a:bodyPr wrap="square">
            <a:spAutoFit/>
          </a:bodyPr>
          <a:lstStyle/>
          <a:p>
            <a:pPr algn="l"/>
            <a:r>
              <a:rPr sz="1100" b="0" i="0">
                <a:solidFill>
                  <a:srgbClr val="CCD6E8"/>
                </a:solidFill>
              </a:rPr>
              <a:t>Laravel carga +300 archivos PHP en cada petición. Con el
volume mount, cada lectura cruzaba el puente WSL2 (Windows
→ Linux), sumando 7-9 s antes de ejecutar una línea de código.</a:t>
            </a:r>
          </a:p>
        </p:txBody>
      </p:sp>
      <p:sp>
        <p:nvSpPr>
          <p:cNvPr id="14" name="Rectangle 13"/>
          <p:cNvSpPr/>
          <p:nvPr/>
        </p:nvSpPr>
        <p:spPr>
          <a:xfrm>
            <a:off x="6035040" y="3429000"/>
            <a:ext cx="5669280" cy="1417320"/>
          </a:xfrm>
          <a:prstGeom prst="rect">
            <a:avLst/>
          </a:prstGeom>
          <a:solidFill>
            <a:srgbClr val="0A1E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3429000"/>
            <a:ext cx="54864" cy="141732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0" y="3474720"/>
            <a:ext cx="5394960" cy="274320"/>
          </a:xfrm>
          <a:prstGeom prst="rect">
            <a:avLst/>
          </a:prstGeom>
          <a:noFill/>
        </p:spPr>
        <p:txBody>
          <a:bodyPr wrap="square">
            <a:spAutoFit/>
          </a:bodyPr>
          <a:lstStyle/>
          <a:p>
            <a:pPr algn="l"/>
            <a:r>
              <a:rPr sz="900" b="1" i="0">
                <a:solidFill>
                  <a:srgbClr val="22C55E"/>
                </a:solidFill>
              </a:rPr>
              <a:t>LA SOLUCIÓN</a:t>
            </a:r>
          </a:p>
        </p:txBody>
      </p:sp>
      <p:sp>
        <p:nvSpPr>
          <p:cNvPr id="17" name="TextBox 16"/>
          <p:cNvSpPr txBox="1"/>
          <p:nvPr/>
        </p:nvSpPr>
        <p:spPr>
          <a:xfrm>
            <a:off x="6217920" y="3721608"/>
            <a:ext cx="5394960" cy="347472"/>
          </a:xfrm>
          <a:prstGeom prst="rect">
            <a:avLst/>
          </a:prstGeom>
          <a:noFill/>
        </p:spPr>
        <p:txBody>
          <a:bodyPr wrap="square">
            <a:spAutoFit/>
          </a:bodyPr>
          <a:lstStyle/>
          <a:p>
            <a:pPr algn="l"/>
            <a:r>
              <a:rPr sz="1500" b="1" i="0">
                <a:solidFill>
                  <a:srgbClr val="FFFFFF"/>
                </a:solidFill>
              </a:rPr>
              <a:t>Código dentro del contenedor</a:t>
            </a:r>
          </a:p>
        </p:txBody>
      </p:sp>
      <p:sp>
        <p:nvSpPr>
          <p:cNvPr id="18" name="TextBox 17"/>
          <p:cNvSpPr txBox="1"/>
          <p:nvPr/>
        </p:nvSpPr>
        <p:spPr>
          <a:xfrm>
            <a:off x="6217920" y="4069080"/>
            <a:ext cx="5394960" cy="685800"/>
          </a:xfrm>
          <a:prstGeom prst="rect">
            <a:avLst/>
          </a:prstGeom>
          <a:noFill/>
        </p:spPr>
        <p:txBody>
          <a:bodyPr wrap="square">
            <a:spAutoFit/>
          </a:bodyPr>
          <a:lstStyle/>
          <a:p>
            <a:pPr algn="l"/>
            <a:r>
              <a:rPr sz="1100" b="0" i="0">
                <a:solidFill>
                  <a:srgbClr val="CCD6E8"/>
                </a:solidFill>
              </a:rPr>
              <a:t>Se eliminó el volume mount. El código vive en el filesystem
nativo Linux del contenedor (copiado en el docker build).
Además: OPcache, modo producción y caches de Laravel.</a:t>
            </a:r>
          </a:p>
        </p:txBody>
      </p:sp>
      <p:sp>
        <p:nvSpPr>
          <p:cNvPr id="19" name="Rectangle 18"/>
          <p:cNvSpPr/>
          <p:nvPr/>
        </p:nvSpPr>
        <p:spPr>
          <a:xfrm>
            <a:off x="6035040" y="4937760"/>
            <a:ext cx="2743200" cy="1417320"/>
          </a:xfrm>
          <a:prstGeom prst="rect">
            <a:avLst/>
          </a:prstGeom>
          <a:solidFill>
            <a:srgbClr val="2A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72200" y="5029200"/>
            <a:ext cx="2468880" cy="274320"/>
          </a:xfrm>
          <a:prstGeom prst="rect">
            <a:avLst/>
          </a:prstGeom>
          <a:noFill/>
        </p:spPr>
        <p:txBody>
          <a:bodyPr wrap="square">
            <a:spAutoFit/>
          </a:bodyPr>
          <a:lstStyle/>
          <a:p>
            <a:pPr algn="l"/>
            <a:r>
              <a:rPr sz="900" b="1" i="0">
                <a:solidFill>
                  <a:srgbClr val="EF4444"/>
                </a:solidFill>
              </a:rPr>
              <a:t>ANTES</a:t>
            </a:r>
          </a:p>
        </p:txBody>
      </p:sp>
      <p:sp>
        <p:nvSpPr>
          <p:cNvPr id="21" name="TextBox 20"/>
          <p:cNvSpPr txBox="1"/>
          <p:nvPr/>
        </p:nvSpPr>
        <p:spPr>
          <a:xfrm>
            <a:off x="6172200" y="5285232"/>
            <a:ext cx="2468880" cy="685800"/>
          </a:xfrm>
          <a:prstGeom prst="rect">
            <a:avLst/>
          </a:prstGeom>
          <a:noFill/>
        </p:spPr>
        <p:txBody>
          <a:bodyPr wrap="square">
            <a:spAutoFit/>
          </a:bodyPr>
          <a:lstStyle/>
          <a:p>
            <a:pPr algn="l"/>
            <a:r>
              <a:rPr sz="3600" b="1" i="0">
                <a:solidFill>
                  <a:srgbClr val="EF4444"/>
                </a:solidFill>
              </a:rPr>
              <a:t>~15 s</a:t>
            </a:r>
          </a:p>
        </p:txBody>
      </p:sp>
      <p:sp>
        <p:nvSpPr>
          <p:cNvPr id="22" name="Rectangle 21"/>
          <p:cNvSpPr/>
          <p:nvPr/>
        </p:nvSpPr>
        <p:spPr>
          <a:xfrm>
            <a:off x="8915400" y="4937760"/>
            <a:ext cx="2788920" cy="1417320"/>
          </a:xfrm>
          <a:prstGeom prst="rect">
            <a:avLst/>
          </a:prstGeom>
          <a:solidFill>
            <a:srgbClr val="0A22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052560" y="5029200"/>
            <a:ext cx="2468880" cy="274320"/>
          </a:xfrm>
          <a:prstGeom prst="rect">
            <a:avLst/>
          </a:prstGeom>
          <a:noFill/>
        </p:spPr>
        <p:txBody>
          <a:bodyPr wrap="square">
            <a:spAutoFit/>
          </a:bodyPr>
          <a:lstStyle/>
          <a:p>
            <a:pPr algn="l"/>
            <a:r>
              <a:rPr sz="900" b="1" i="0">
                <a:solidFill>
                  <a:srgbClr val="22C55E"/>
                </a:solidFill>
              </a:rPr>
              <a:t>DESPUÉS</a:t>
            </a:r>
          </a:p>
        </p:txBody>
      </p:sp>
      <p:sp>
        <p:nvSpPr>
          <p:cNvPr id="24" name="TextBox 23"/>
          <p:cNvSpPr txBox="1"/>
          <p:nvPr/>
        </p:nvSpPr>
        <p:spPr>
          <a:xfrm>
            <a:off x="9052560" y="5285232"/>
            <a:ext cx="2468880" cy="685800"/>
          </a:xfrm>
          <a:prstGeom prst="rect">
            <a:avLst/>
          </a:prstGeom>
          <a:noFill/>
        </p:spPr>
        <p:txBody>
          <a:bodyPr wrap="square">
            <a:spAutoFit/>
          </a:bodyPr>
          <a:lstStyle/>
          <a:p>
            <a:pPr algn="l"/>
            <a:r>
              <a:rPr sz="3600" b="1" i="0">
                <a:solidFill>
                  <a:srgbClr val="22C55E"/>
                </a:solidFill>
              </a:rPr>
              <a:t>185 ms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54864" cy="6858000"/>
          </a:xfrm>
          <a:prstGeom prst="rect">
            <a:avLst/>
          </a:prstGeom>
          <a:solidFill>
            <a:srgbClr val="2A5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7315200" cy="274320"/>
          </a:xfrm>
          <a:prstGeom prst="rect">
            <a:avLst/>
          </a:prstGeom>
          <a:noFill/>
        </p:spPr>
        <p:txBody>
          <a:bodyPr wrap="square">
            <a:spAutoFit/>
          </a:bodyPr>
          <a:lstStyle/>
          <a:p>
            <a:pPr algn="l"/>
            <a:r>
              <a:rPr sz="1000" b="0" i="0">
                <a:solidFill>
                  <a:srgbClr val="4FC3F7"/>
                </a:solidFill>
              </a:rPr>
              <a:t>06 — PREGUNTAS FRECUENTES</a:t>
            </a:r>
          </a:p>
        </p:txBody>
      </p:sp>
      <p:sp>
        <p:nvSpPr>
          <p:cNvPr id="4" name="TextBox 3"/>
          <p:cNvSpPr txBox="1"/>
          <p:nvPr/>
        </p:nvSpPr>
        <p:spPr>
          <a:xfrm>
            <a:off x="457200" y="594360"/>
            <a:ext cx="9144000" cy="594360"/>
          </a:xfrm>
          <a:prstGeom prst="rect">
            <a:avLst/>
          </a:prstGeom>
          <a:noFill/>
        </p:spPr>
        <p:txBody>
          <a:bodyPr wrap="square">
            <a:spAutoFit/>
          </a:bodyPr>
          <a:lstStyle/>
          <a:p>
            <a:pPr algn="l"/>
            <a:r>
              <a:rPr sz="3000" b="1" i="0">
                <a:solidFill>
                  <a:srgbClr val="FFFFFF"/>
                </a:solidFill>
              </a:rPr>
              <a:t>FAQ</a:t>
            </a:r>
          </a:p>
        </p:txBody>
      </p:sp>
      <p:sp>
        <p:nvSpPr>
          <p:cNvPr id="5" name="Rectangle 4"/>
          <p:cNvSpPr/>
          <p:nvPr/>
        </p:nvSpPr>
        <p:spPr>
          <a:xfrm>
            <a:off x="457200" y="1188720"/>
            <a:ext cx="2286000" cy="36576"/>
          </a:xfrm>
          <a:prstGeom prst="rect">
            <a:avLst/>
          </a:prstGeom>
          <a:solidFill>
            <a:srgbClr val="2A5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371600"/>
            <a:ext cx="5577840" cy="1097280"/>
          </a:xfrm>
          <a:prstGeom prst="rect">
            <a:avLst/>
          </a:prstGeom>
          <a:solidFill>
            <a:srgbClr val="0E1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444752"/>
            <a:ext cx="5349240" cy="320040"/>
          </a:xfrm>
          <a:prstGeom prst="rect">
            <a:avLst/>
          </a:prstGeom>
          <a:noFill/>
        </p:spPr>
        <p:txBody>
          <a:bodyPr wrap="square">
            <a:spAutoFit/>
          </a:bodyPr>
          <a:lstStyle/>
          <a:p>
            <a:pPr algn="l"/>
            <a:r>
              <a:rPr sz="1200" b="1" i="0">
                <a:solidFill>
                  <a:srgbClr val="4FC3F7"/>
                </a:solidFill>
              </a:rPr>
              <a:t>¿Por qué Laravel y no otro framework?</a:t>
            </a:r>
          </a:p>
        </p:txBody>
      </p:sp>
      <p:sp>
        <p:nvSpPr>
          <p:cNvPr id="8" name="TextBox 7"/>
          <p:cNvSpPr txBox="1"/>
          <p:nvPr/>
        </p:nvSpPr>
        <p:spPr>
          <a:xfrm>
            <a:off x="594360" y="1783080"/>
            <a:ext cx="5349240" cy="594360"/>
          </a:xfrm>
          <a:prstGeom prst="rect">
            <a:avLst/>
          </a:prstGeom>
          <a:noFill/>
        </p:spPr>
        <p:txBody>
          <a:bodyPr wrap="square">
            <a:spAutoFit/>
          </a:bodyPr>
          <a:lstStyle/>
          <a:p>
            <a:pPr algn="l"/>
            <a:r>
              <a:rPr sz="1100" b="0" i="0">
                <a:solidFill>
                  <a:srgbClr val="CCD6E8"/>
                </a:solidFill>
              </a:rPr>
              <a:t>Es el framework PHP más usado, mejor documentado y con mayor comunidad. Equilibrio perfecto entre potencia y curva de aprendizaje para este proyecto.</a:t>
            </a:r>
          </a:p>
        </p:txBody>
      </p:sp>
      <p:sp>
        <p:nvSpPr>
          <p:cNvPr id="9" name="Rectangle 8"/>
          <p:cNvSpPr/>
          <p:nvPr/>
        </p:nvSpPr>
        <p:spPr>
          <a:xfrm>
            <a:off x="457200" y="2560320"/>
            <a:ext cx="5577840" cy="1097280"/>
          </a:xfrm>
          <a:prstGeom prst="rect">
            <a:avLst/>
          </a:prstGeom>
          <a:solidFill>
            <a:srgbClr val="0E1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2633472"/>
            <a:ext cx="5349240" cy="320040"/>
          </a:xfrm>
          <a:prstGeom prst="rect">
            <a:avLst/>
          </a:prstGeom>
          <a:noFill/>
        </p:spPr>
        <p:txBody>
          <a:bodyPr wrap="square">
            <a:spAutoFit/>
          </a:bodyPr>
          <a:lstStyle/>
          <a:p>
            <a:pPr algn="l"/>
            <a:r>
              <a:rPr sz="1200" b="1" i="0">
                <a:solidFill>
                  <a:srgbClr val="4FC3F7"/>
                </a:solidFill>
              </a:rPr>
              <a:t>¿Por qué PHP y no Node.js o Python?</a:t>
            </a:r>
          </a:p>
        </p:txBody>
      </p:sp>
      <p:sp>
        <p:nvSpPr>
          <p:cNvPr id="11" name="TextBox 10"/>
          <p:cNvSpPr txBox="1"/>
          <p:nvPr/>
        </p:nvSpPr>
        <p:spPr>
          <a:xfrm>
            <a:off x="594360" y="2971800"/>
            <a:ext cx="5349240" cy="594360"/>
          </a:xfrm>
          <a:prstGeom prst="rect">
            <a:avLst/>
          </a:prstGeom>
          <a:noFill/>
        </p:spPr>
        <p:txBody>
          <a:bodyPr wrap="square">
            <a:spAutoFit/>
          </a:bodyPr>
          <a:lstStyle/>
          <a:p>
            <a:pPr algn="l"/>
            <a:r>
              <a:rPr sz="1100" b="0" i="0">
                <a:solidFill>
                  <a:srgbClr val="CCD6E8"/>
                </a:solidFill>
              </a:rPr>
              <a:t>PHP es el lenguaje servidor más extendido (WordPress, Wikipedia...). Laravel lo eleva al nivel de frameworks modernos. Era también el lenguaje con más experiencia.</a:t>
            </a:r>
          </a:p>
        </p:txBody>
      </p:sp>
      <p:sp>
        <p:nvSpPr>
          <p:cNvPr id="12" name="Rectangle 11"/>
          <p:cNvSpPr/>
          <p:nvPr/>
        </p:nvSpPr>
        <p:spPr>
          <a:xfrm>
            <a:off x="457200" y="3749039"/>
            <a:ext cx="5577840" cy="1097280"/>
          </a:xfrm>
          <a:prstGeom prst="rect">
            <a:avLst/>
          </a:prstGeom>
          <a:solidFill>
            <a:srgbClr val="0E1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3822191"/>
            <a:ext cx="5349240" cy="320040"/>
          </a:xfrm>
          <a:prstGeom prst="rect">
            <a:avLst/>
          </a:prstGeom>
          <a:noFill/>
        </p:spPr>
        <p:txBody>
          <a:bodyPr wrap="square">
            <a:spAutoFit/>
          </a:bodyPr>
          <a:lstStyle/>
          <a:p>
            <a:pPr algn="l"/>
            <a:r>
              <a:rPr sz="1200" b="1" i="0">
                <a:solidFill>
                  <a:srgbClr val="4FC3F7"/>
                </a:solidFill>
              </a:rPr>
              <a:t>¿Se pueden añadir más tipos de entrenamiento?</a:t>
            </a:r>
          </a:p>
        </p:txBody>
      </p:sp>
      <p:sp>
        <p:nvSpPr>
          <p:cNvPr id="14" name="TextBox 13"/>
          <p:cNvSpPr txBox="1"/>
          <p:nvPr/>
        </p:nvSpPr>
        <p:spPr>
          <a:xfrm>
            <a:off x="594360" y="4160520"/>
            <a:ext cx="5349240" cy="594360"/>
          </a:xfrm>
          <a:prstGeom prst="rect">
            <a:avLst/>
          </a:prstGeom>
          <a:noFill/>
        </p:spPr>
        <p:txBody>
          <a:bodyPr wrap="square">
            <a:spAutoFit/>
          </a:bodyPr>
          <a:lstStyle/>
          <a:p>
            <a:pPr algn="l"/>
            <a:r>
              <a:rPr sz="1100" b="0" i="0">
                <a:solidFill>
                  <a:srgbClr val="CCD6E8"/>
                </a:solidFill>
              </a:rPr>
              <a:t>Sí. Solo hay que añadir el nuevo tipo en la validación del controlador y en la fórmula de calorías. La base de datos no requiere ningún cambio estructural.</a:t>
            </a:r>
          </a:p>
        </p:txBody>
      </p:sp>
      <p:sp>
        <p:nvSpPr>
          <p:cNvPr id="15" name="Rectangle 14"/>
          <p:cNvSpPr/>
          <p:nvPr/>
        </p:nvSpPr>
        <p:spPr>
          <a:xfrm>
            <a:off x="457200" y="4937759"/>
            <a:ext cx="5577840" cy="1097280"/>
          </a:xfrm>
          <a:prstGeom prst="rect">
            <a:avLst/>
          </a:prstGeom>
          <a:solidFill>
            <a:srgbClr val="0E1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5010912"/>
            <a:ext cx="5349240" cy="320040"/>
          </a:xfrm>
          <a:prstGeom prst="rect">
            <a:avLst/>
          </a:prstGeom>
          <a:noFill/>
        </p:spPr>
        <p:txBody>
          <a:bodyPr wrap="square">
            <a:spAutoFit/>
          </a:bodyPr>
          <a:lstStyle/>
          <a:p>
            <a:pPr algn="l"/>
            <a:r>
              <a:rPr sz="1200" b="1" i="0">
                <a:solidFill>
                  <a:srgbClr val="4FC3F7"/>
                </a:solidFill>
              </a:rPr>
              <a:t>¿Funciona en móvil?</a:t>
            </a:r>
          </a:p>
        </p:txBody>
      </p:sp>
      <p:sp>
        <p:nvSpPr>
          <p:cNvPr id="17" name="TextBox 16"/>
          <p:cNvSpPr txBox="1"/>
          <p:nvPr/>
        </p:nvSpPr>
        <p:spPr>
          <a:xfrm>
            <a:off x="594360" y="5349240"/>
            <a:ext cx="5349240" cy="594360"/>
          </a:xfrm>
          <a:prstGeom prst="rect">
            <a:avLst/>
          </a:prstGeom>
          <a:noFill/>
        </p:spPr>
        <p:txBody>
          <a:bodyPr wrap="square">
            <a:spAutoFit/>
          </a:bodyPr>
          <a:lstStyle/>
          <a:p>
            <a:pPr algn="l"/>
            <a:r>
              <a:rPr sz="1100" b="0" i="0">
                <a:solidFill>
                  <a:srgbClr val="CCD6E8"/>
                </a:solidFill>
              </a:rPr>
              <a:t>Sí. La interfaz está construida sobre Bootstrap 5, que es responsive por diseño y se adapta automáticamente a cualquier tamaño de pantalla.</a:t>
            </a:r>
          </a:p>
        </p:txBody>
      </p:sp>
      <p:sp>
        <p:nvSpPr>
          <p:cNvPr id="18" name="Rectangle 17"/>
          <p:cNvSpPr/>
          <p:nvPr/>
        </p:nvSpPr>
        <p:spPr>
          <a:xfrm>
            <a:off x="6263640" y="1371600"/>
            <a:ext cx="5577840" cy="1097280"/>
          </a:xfrm>
          <a:prstGeom prst="rect">
            <a:avLst/>
          </a:prstGeom>
          <a:solidFill>
            <a:srgbClr val="0E1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1444752"/>
            <a:ext cx="5349240" cy="320040"/>
          </a:xfrm>
          <a:prstGeom prst="rect">
            <a:avLst/>
          </a:prstGeom>
          <a:noFill/>
        </p:spPr>
        <p:txBody>
          <a:bodyPr wrap="square">
            <a:spAutoFit/>
          </a:bodyPr>
          <a:lstStyle/>
          <a:p>
            <a:pPr algn="l"/>
            <a:r>
              <a:rPr sz="1200" b="1" i="0">
                <a:solidFill>
                  <a:srgbClr val="4FC3F7"/>
                </a:solidFill>
              </a:rPr>
              <a:t>¿La aplicación es segura?</a:t>
            </a:r>
          </a:p>
        </p:txBody>
      </p:sp>
      <p:sp>
        <p:nvSpPr>
          <p:cNvPr id="20" name="TextBox 19"/>
          <p:cNvSpPr txBox="1"/>
          <p:nvPr/>
        </p:nvSpPr>
        <p:spPr>
          <a:xfrm>
            <a:off x="6400800" y="1783080"/>
            <a:ext cx="5349240" cy="594360"/>
          </a:xfrm>
          <a:prstGeom prst="rect">
            <a:avLst/>
          </a:prstGeom>
          <a:noFill/>
        </p:spPr>
        <p:txBody>
          <a:bodyPr wrap="square">
            <a:spAutoFit/>
          </a:bodyPr>
          <a:lstStyle/>
          <a:p>
            <a:pPr algn="l"/>
            <a:r>
              <a:rPr sz="1100" b="0" i="0">
                <a:solidFill>
                  <a:srgbClr val="CCD6E8"/>
                </a:solidFill>
              </a:rPr>
              <a:t>Sí: contraseñas con bcrypt, SQL injection prevenido por Eloquent, XSS bloqueado por Blade, tokens CSRF en todos los formularios y límite de 5 intentos de login por minuto.</a:t>
            </a:r>
          </a:p>
        </p:txBody>
      </p:sp>
      <p:sp>
        <p:nvSpPr>
          <p:cNvPr id="21" name="Rectangle 20"/>
          <p:cNvSpPr/>
          <p:nvPr/>
        </p:nvSpPr>
        <p:spPr>
          <a:xfrm>
            <a:off x="6263640" y="2560320"/>
            <a:ext cx="5577840" cy="1097280"/>
          </a:xfrm>
          <a:prstGeom prst="rect">
            <a:avLst/>
          </a:prstGeom>
          <a:solidFill>
            <a:srgbClr val="0E1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2633472"/>
            <a:ext cx="5349240" cy="320040"/>
          </a:xfrm>
          <a:prstGeom prst="rect">
            <a:avLst/>
          </a:prstGeom>
          <a:noFill/>
        </p:spPr>
        <p:txBody>
          <a:bodyPr wrap="square">
            <a:spAutoFit/>
          </a:bodyPr>
          <a:lstStyle/>
          <a:p>
            <a:pPr algn="l"/>
            <a:r>
              <a:rPr sz="1200" b="1" i="0">
                <a:solidFill>
                  <a:srgbClr val="4FC3F7"/>
                </a:solidFill>
              </a:rPr>
              <a:t>¿Cómo se despliega la aplicación?</a:t>
            </a:r>
          </a:p>
        </p:txBody>
      </p:sp>
      <p:sp>
        <p:nvSpPr>
          <p:cNvPr id="23" name="TextBox 22"/>
          <p:cNvSpPr txBox="1"/>
          <p:nvPr/>
        </p:nvSpPr>
        <p:spPr>
          <a:xfrm>
            <a:off x="6400800" y="2971800"/>
            <a:ext cx="5349240" cy="594360"/>
          </a:xfrm>
          <a:prstGeom prst="rect">
            <a:avLst/>
          </a:prstGeom>
          <a:noFill/>
        </p:spPr>
        <p:txBody>
          <a:bodyPr wrap="square">
            <a:spAutoFit/>
          </a:bodyPr>
          <a:lstStyle/>
          <a:p>
            <a:pPr algn="l"/>
            <a:r>
              <a:rPr sz="1100" b="0" i="0">
                <a:solidFill>
                  <a:srgbClr val="CCD6E8"/>
                </a:solidFill>
              </a:rPr>
              <a:t>Con un solo comando: docker-compose up --build. Docker levanta los tres contenedores automáticamente: servidor web (PHP + Apache), MySQL y phpMyAdmin.</a:t>
            </a:r>
          </a:p>
        </p:txBody>
      </p:sp>
      <p:sp>
        <p:nvSpPr>
          <p:cNvPr id="24" name="Rectangle 23"/>
          <p:cNvSpPr/>
          <p:nvPr/>
        </p:nvSpPr>
        <p:spPr>
          <a:xfrm>
            <a:off x="6263640" y="3749039"/>
            <a:ext cx="5577840" cy="1097280"/>
          </a:xfrm>
          <a:prstGeom prst="rect">
            <a:avLst/>
          </a:prstGeom>
          <a:solidFill>
            <a:srgbClr val="0E1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0" y="3822191"/>
            <a:ext cx="5349240" cy="320040"/>
          </a:xfrm>
          <a:prstGeom prst="rect">
            <a:avLst/>
          </a:prstGeom>
          <a:noFill/>
        </p:spPr>
        <p:txBody>
          <a:bodyPr wrap="square">
            <a:spAutoFit/>
          </a:bodyPr>
          <a:lstStyle/>
          <a:p>
            <a:pPr algn="l"/>
            <a:r>
              <a:rPr sz="1200" b="1" i="0">
                <a:solidFill>
                  <a:srgbClr val="4FC3F7"/>
                </a:solidFill>
              </a:rPr>
              <a:t>¿Qué cubren los tests automáticos?</a:t>
            </a:r>
          </a:p>
        </p:txBody>
      </p:sp>
      <p:sp>
        <p:nvSpPr>
          <p:cNvPr id="26" name="TextBox 25"/>
          <p:cNvSpPr txBox="1"/>
          <p:nvPr/>
        </p:nvSpPr>
        <p:spPr>
          <a:xfrm>
            <a:off x="6400800" y="4160520"/>
            <a:ext cx="5349240" cy="594360"/>
          </a:xfrm>
          <a:prstGeom prst="rect">
            <a:avLst/>
          </a:prstGeom>
          <a:noFill/>
        </p:spPr>
        <p:txBody>
          <a:bodyPr wrap="square">
            <a:spAutoFit/>
          </a:bodyPr>
          <a:lstStyle/>
          <a:p>
            <a:pPr algn="l"/>
            <a:r>
              <a:rPr sz="1100" b="0" i="0">
                <a:solidFill>
                  <a:srgbClr val="CCD6E8"/>
                </a:solidFill>
              </a:rPr>
              <a:t>8 tests con PHPUnit: cálculo de calorías por tipo, validación de objetivos y cálculo de estadísticas con y sin datos. Detectan regresiones automáticamente.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54864" cy="6858000"/>
          </a:xfrm>
          <a:prstGeom prst="rect">
            <a:avLst/>
          </a:prstGeom>
          <a:solidFill>
            <a:srgbClr val="2A5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0" y="914400"/>
            <a:ext cx="1645920" cy="1097280"/>
          </a:xfrm>
          <a:prstGeom prst="rect">
            <a:avLst/>
          </a:prstGeom>
          <a:noFill/>
        </p:spPr>
        <p:txBody>
          <a:bodyPr wrap="square">
            <a:spAutoFit/>
          </a:bodyPr>
          <a:lstStyle/>
          <a:p>
            <a:pPr algn="ctr"/>
            <a:r>
              <a:rPr sz="5600" b="0" i="0">
                <a:solidFill>
                  <a:srgbClr val="FFFFFF"/>
                </a:solidFill>
              </a:rPr>
              <a:t>🏋️</a:t>
            </a:r>
          </a:p>
        </p:txBody>
      </p:sp>
      <p:sp>
        <p:nvSpPr>
          <p:cNvPr id="4" name="TextBox 3"/>
          <p:cNvSpPr txBox="1"/>
          <p:nvPr/>
        </p:nvSpPr>
        <p:spPr>
          <a:xfrm>
            <a:off x="1371600" y="2103120"/>
            <a:ext cx="9601200" cy="320040"/>
          </a:xfrm>
          <a:prstGeom prst="rect">
            <a:avLst/>
          </a:prstGeom>
          <a:noFill/>
        </p:spPr>
        <p:txBody>
          <a:bodyPr wrap="square">
            <a:spAutoFit/>
          </a:bodyPr>
          <a:lstStyle/>
          <a:p>
            <a:pPr algn="ctr"/>
            <a:r>
              <a:rPr sz="1000" b="1" i="0">
                <a:solidFill>
                  <a:srgbClr val="4FC3F7"/>
                </a:solidFill>
              </a:rPr>
              <a:t>SINERGYFIT · PROYECTO FINAL DAW</a:t>
            </a:r>
          </a:p>
        </p:txBody>
      </p:sp>
      <p:sp>
        <p:nvSpPr>
          <p:cNvPr id="5" name="TextBox 4"/>
          <p:cNvSpPr txBox="1"/>
          <p:nvPr/>
        </p:nvSpPr>
        <p:spPr>
          <a:xfrm>
            <a:off x="1371600" y="2468880"/>
            <a:ext cx="9601200" cy="1097280"/>
          </a:xfrm>
          <a:prstGeom prst="rect">
            <a:avLst/>
          </a:prstGeom>
          <a:noFill/>
        </p:spPr>
        <p:txBody>
          <a:bodyPr wrap="square">
            <a:spAutoFit/>
          </a:bodyPr>
          <a:lstStyle/>
          <a:p>
            <a:pPr algn="ctr"/>
            <a:r>
              <a:rPr sz="5400" b="1" i="0">
                <a:solidFill>
                  <a:srgbClr val="FFFFFF"/>
                </a:solidFill>
              </a:rPr>
              <a:t>Muchas gracias</a:t>
            </a:r>
          </a:p>
        </p:txBody>
      </p:sp>
      <p:sp>
        <p:nvSpPr>
          <p:cNvPr id="6" name="Rectangle 5"/>
          <p:cNvSpPr/>
          <p:nvPr/>
        </p:nvSpPr>
        <p:spPr>
          <a:xfrm>
            <a:off x="4114800" y="3566160"/>
            <a:ext cx="4114800" cy="36576"/>
          </a:xfrm>
          <a:prstGeom prst="rect">
            <a:avLst/>
          </a:prstGeom>
          <a:solidFill>
            <a:srgbClr val="2A5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749039"/>
            <a:ext cx="9601200" cy="457200"/>
          </a:xfrm>
          <a:prstGeom prst="rect">
            <a:avLst/>
          </a:prstGeom>
          <a:noFill/>
        </p:spPr>
        <p:txBody>
          <a:bodyPr wrap="square">
            <a:spAutoFit/>
          </a:bodyPr>
          <a:lstStyle/>
          <a:p>
            <a:pPr algn="ctr"/>
            <a:r>
              <a:rPr sz="1800" b="0" i="0">
                <a:solidFill>
                  <a:srgbClr val="CCD6E8"/>
                </a:solidFill>
              </a:rPr>
              <a:t>Quedo a vuestra disposición para responder cualquier pregunta.</a:t>
            </a:r>
          </a:p>
        </p:txBody>
      </p:sp>
      <p:sp>
        <p:nvSpPr>
          <p:cNvPr id="8" name="Rectangle 7"/>
          <p:cNvSpPr/>
          <p:nvPr/>
        </p:nvSpPr>
        <p:spPr>
          <a:xfrm>
            <a:off x="3083814" y="4434840"/>
            <a:ext cx="1325880" cy="347472"/>
          </a:xfrm>
          <a:prstGeom prst="rect">
            <a:avLst/>
          </a:prstGeom>
          <a:solidFill>
            <a:srgbClr val="1A2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175254" y="4471416"/>
            <a:ext cx="1234440" cy="274320"/>
          </a:xfrm>
          <a:prstGeom prst="rect">
            <a:avLst/>
          </a:prstGeom>
          <a:noFill/>
        </p:spPr>
        <p:txBody>
          <a:bodyPr wrap="square">
            <a:spAutoFit/>
          </a:bodyPr>
          <a:lstStyle/>
          <a:p>
            <a:pPr algn="ctr"/>
            <a:r>
              <a:rPr sz="1100" b="1" i="0">
                <a:solidFill>
                  <a:srgbClr val="4FC3F7"/>
                </a:solidFill>
              </a:rPr>
              <a:t>Laravel 11</a:t>
            </a:r>
          </a:p>
        </p:txBody>
      </p:sp>
      <p:sp>
        <p:nvSpPr>
          <p:cNvPr id="10" name="Rectangle 9"/>
          <p:cNvSpPr/>
          <p:nvPr/>
        </p:nvSpPr>
        <p:spPr>
          <a:xfrm>
            <a:off x="4546854" y="4434840"/>
            <a:ext cx="1010412" cy="347472"/>
          </a:xfrm>
          <a:prstGeom prst="rect">
            <a:avLst/>
          </a:prstGeom>
          <a:solidFill>
            <a:srgbClr val="1A2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38294" y="4471416"/>
            <a:ext cx="918971" cy="274320"/>
          </a:xfrm>
          <a:prstGeom prst="rect">
            <a:avLst/>
          </a:prstGeom>
          <a:noFill/>
        </p:spPr>
        <p:txBody>
          <a:bodyPr wrap="square">
            <a:spAutoFit/>
          </a:bodyPr>
          <a:lstStyle/>
          <a:p>
            <a:pPr algn="ctr"/>
            <a:r>
              <a:rPr sz="1100" b="1" i="0">
                <a:solidFill>
                  <a:srgbClr val="4FC3F7"/>
                </a:solidFill>
              </a:rPr>
              <a:t>PHP 8.2</a:t>
            </a:r>
          </a:p>
        </p:txBody>
      </p:sp>
      <p:sp>
        <p:nvSpPr>
          <p:cNvPr id="12" name="Rectangle 11"/>
          <p:cNvSpPr/>
          <p:nvPr/>
        </p:nvSpPr>
        <p:spPr>
          <a:xfrm>
            <a:off x="5694426" y="4434840"/>
            <a:ext cx="1220724" cy="347472"/>
          </a:xfrm>
          <a:prstGeom prst="rect">
            <a:avLst/>
          </a:prstGeom>
          <a:solidFill>
            <a:srgbClr val="1A2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85866" y="4471416"/>
            <a:ext cx="1129284" cy="274320"/>
          </a:xfrm>
          <a:prstGeom prst="rect">
            <a:avLst/>
          </a:prstGeom>
          <a:noFill/>
        </p:spPr>
        <p:txBody>
          <a:bodyPr wrap="square">
            <a:spAutoFit/>
          </a:bodyPr>
          <a:lstStyle/>
          <a:p>
            <a:pPr algn="ctr"/>
            <a:r>
              <a:rPr sz="1100" b="1" i="0">
                <a:solidFill>
                  <a:srgbClr val="4FC3F7"/>
                </a:solidFill>
              </a:rPr>
              <a:t>MySQL 8.0</a:t>
            </a:r>
          </a:p>
        </p:txBody>
      </p:sp>
      <p:sp>
        <p:nvSpPr>
          <p:cNvPr id="14" name="Rectangle 13"/>
          <p:cNvSpPr/>
          <p:nvPr/>
        </p:nvSpPr>
        <p:spPr>
          <a:xfrm>
            <a:off x="7052310" y="4434840"/>
            <a:ext cx="905256" cy="347472"/>
          </a:xfrm>
          <a:prstGeom prst="rect">
            <a:avLst/>
          </a:prstGeom>
          <a:solidFill>
            <a:srgbClr val="1A2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43750" y="4471416"/>
            <a:ext cx="813816" cy="274320"/>
          </a:xfrm>
          <a:prstGeom prst="rect">
            <a:avLst/>
          </a:prstGeom>
          <a:noFill/>
        </p:spPr>
        <p:txBody>
          <a:bodyPr wrap="square">
            <a:spAutoFit/>
          </a:bodyPr>
          <a:lstStyle/>
          <a:p>
            <a:pPr algn="ctr"/>
            <a:r>
              <a:rPr sz="1100" b="1" i="0">
                <a:solidFill>
                  <a:srgbClr val="4FC3F7"/>
                </a:solidFill>
              </a:rPr>
              <a:t>Docker</a:t>
            </a:r>
          </a:p>
        </p:txBody>
      </p:sp>
      <p:sp>
        <p:nvSpPr>
          <p:cNvPr id="16" name="Rectangle 15"/>
          <p:cNvSpPr/>
          <p:nvPr/>
        </p:nvSpPr>
        <p:spPr>
          <a:xfrm>
            <a:off x="8094726" y="4434840"/>
            <a:ext cx="1010412" cy="347472"/>
          </a:xfrm>
          <a:prstGeom prst="rect">
            <a:avLst/>
          </a:prstGeom>
          <a:solidFill>
            <a:srgbClr val="1A2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86166" y="4471416"/>
            <a:ext cx="918971" cy="274320"/>
          </a:xfrm>
          <a:prstGeom prst="rect">
            <a:avLst/>
          </a:prstGeom>
          <a:noFill/>
        </p:spPr>
        <p:txBody>
          <a:bodyPr wrap="square">
            <a:spAutoFit/>
          </a:bodyPr>
          <a:lstStyle/>
          <a:p>
            <a:pPr algn="ctr"/>
            <a:r>
              <a:rPr sz="1100" b="1" i="0">
                <a:solidFill>
                  <a:srgbClr val="4FC3F7"/>
                </a:solidFill>
              </a:rPr>
              <a:t>PHPUnit</a:t>
            </a:r>
          </a:p>
        </p:txBody>
      </p:sp>
      <p:sp>
        <p:nvSpPr>
          <p:cNvPr id="18" name="TextBox 17"/>
          <p:cNvSpPr txBox="1"/>
          <p:nvPr/>
        </p:nvSpPr>
        <p:spPr>
          <a:xfrm>
            <a:off x="1371600" y="6126480"/>
            <a:ext cx="9601200" cy="365760"/>
          </a:xfrm>
          <a:prstGeom prst="rect">
            <a:avLst/>
          </a:prstGeom>
          <a:noFill/>
        </p:spPr>
        <p:txBody>
          <a:bodyPr wrap="square">
            <a:spAutoFit/>
          </a:bodyPr>
          <a:lstStyle/>
          <a:p>
            <a:pPr algn="ctr"/>
            <a:r>
              <a:rPr sz="1300" b="0" i="0">
                <a:solidFill>
                  <a:srgbClr val="8090AA"/>
                </a:solidFill>
              </a:rPr>
              <a:t>Juanfri  ·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